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Raleway"/>
      <p:regular r:id="rId39"/>
      <p:bold r:id="rId40"/>
      <p:italic r:id="rId41"/>
      <p:boldItalic r:id="rId42"/>
    </p:embeddedFont>
    <p:embeddedFont>
      <p:font typeface="La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fntdata"/><Relationship Id="rId20" Type="http://schemas.openxmlformats.org/officeDocument/2006/relationships/slide" Target="slides/slide15.xml"/><Relationship Id="rId42" Type="http://schemas.openxmlformats.org/officeDocument/2006/relationships/font" Target="fonts/Raleway-boldItalic.fntdata"/><Relationship Id="rId41" Type="http://schemas.openxmlformats.org/officeDocument/2006/relationships/font" Target="fonts/Raleway-italic.fntdata"/><Relationship Id="rId22" Type="http://schemas.openxmlformats.org/officeDocument/2006/relationships/slide" Target="slides/slide17.xml"/><Relationship Id="rId44" Type="http://schemas.openxmlformats.org/officeDocument/2006/relationships/font" Target="fonts/Lato-bold.fntdata"/><Relationship Id="rId21" Type="http://schemas.openxmlformats.org/officeDocument/2006/relationships/slide" Target="slides/slide16.xml"/><Relationship Id="rId43" Type="http://schemas.openxmlformats.org/officeDocument/2006/relationships/font" Target="fonts/Lato-regular.fntdata"/><Relationship Id="rId24" Type="http://schemas.openxmlformats.org/officeDocument/2006/relationships/slide" Target="slides/slide19.xml"/><Relationship Id="rId46" Type="http://schemas.openxmlformats.org/officeDocument/2006/relationships/font" Target="fonts/Lato-boldItalic.fntdata"/><Relationship Id="rId23" Type="http://schemas.openxmlformats.org/officeDocument/2006/relationships/slide" Target="slides/slide18.xml"/><Relationship Id="rId45"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aleway-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30e0216c6e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30e0216c6e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30e0216c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30e0216c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30e0216c6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30e0216c6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30e0216c6e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30e0216c6e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30e0216c6e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30e0216c6e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Low priority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30e0216c6e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30e0216c6e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30e0216c6e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30e0216c6e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30e0216c6e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30e0216c6e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30e0216c6e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30e0216c6e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30e0216c6e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30e0216c6e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30e0216c6e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30e0216c6e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30e0216c6e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30e0216c6e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30e0216c6e_1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30e0216c6e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30e0216c6e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30e0216c6e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30e0216c6e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30e0216c6e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30e0216c6e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30e0216c6e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30e0216c6e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30e0216c6e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30e0216c6e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30e0216c6e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30e0216c6e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30e0216c6e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19e2e2979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19e2e2979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19e2e2979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19e2e2979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30e0216c6e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30e0216c6e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30e0216c6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30e0216c6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null vs alternative for just this one</a:t>
            </a:r>
            <a:endParaRPr/>
          </a:p>
          <a:p>
            <a:pPr indent="0" lvl="0" marL="0" rtl="0" algn="l">
              <a:spcBef>
                <a:spcPts val="0"/>
              </a:spcBef>
              <a:spcAft>
                <a:spcPts val="0"/>
              </a:spcAft>
              <a:buNone/>
            </a:pPr>
            <a:r>
              <a:rPr lang="en"/>
              <a:t>Why T vs Z, functionally same in </a:t>
            </a:r>
            <a:r>
              <a:rPr lang="en"/>
              <a:t>the same in this case due to very high df</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30e0216c6e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30e0216c6e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30e0216c6e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30e0216c6e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30e0216c6e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30e0216c6e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30e0216c6e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30e0216c6e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30e0216c6e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30e0216c6e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30e0216c6e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30e0216c6e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30e0216c6e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30e0216c6e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30e0216c6e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30e0216c6e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32d6857a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32d6857a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www.baseball-reference.com/" TargetMode="External"/><Relationship Id="rId4" Type="http://schemas.openxmlformats.org/officeDocument/2006/relationships/hyperlink" Target="https://www.fangraphs.com/" TargetMode="External"/><Relationship Id="rId11" Type="http://schemas.openxmlformats.org/officeDocument/2006/relationships/hyperlink" Target="https://www.overtimeheroics.net/2022/05/31/the-mathematically-optimal-batting-order/" TargetMode="External"/><Relationship Id="rId10" Type="http://schemas.openxmlformats.org/officeDocument/2006/relationships/hyperlink" Target="https://www.overtimeheroics.net/2022/05/31/the-mathematically-optimal-batting-order/" TargetMode="External"/><Relationship Id="rId12" Type="http://schemas.openxmlformats.org/officeDocument/2006/relationships/hyperlink" Target="https://digitalrepository.unm.edu/cgi/viewcontent.cgi?article=1082&amp;context=educ_hess_etds" TargetMode="External"/><Relationship Id="rId9" Type="http://schemas.openxmlformats.org/officeDocument/2006/relationships/hyperlink" Target="https://www2.isye.gatech.edu/~jsokol/boouu.pdf" TargetMode="External"/><Relationship Id="rId5" Type="http://schemas.openxmlformats.org/officeDocument/2006/relationships/hyperlink" Target="https://billpetti.github.io/baseballr/" TargetMode="External"/><Relationship Id="rId6" Type="http://schemas.openxmlformats.org/officeDocument/2006/relationships/hyperlink" Target="https://bleacherreport.com/articles/1619689-the-anatomy-of-a-perfect-major-league-lineup" TargetMode="External"/><Relationship Id="rId7" Type="http://schemas.openxmlformats.org/officeDocument/2006/relationships/hyperlink" Target="https://www.beyondtheboxscore.com/2009/3/17/795946/optimizing-your-lineup-by" TargetMode="External"/><Relationship Id="rId8" Type="http://schemas.openxmlformats.org/officeDocument/2006/relationships/hyperlink" Target="https://www.drivelinebaseball.com/2020/02/seqnzr-simulation-lineup-optimizat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Analyzing the Ordering of MLB Lineups</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George Daher and Dan Mariani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sp>
        <p:nvSpPr>
          <p:cNvPr id="93" name="Google Shape;93;p14"/>
          <p:cNvSpPr txBox="1"/>
          <p:nvPr>
            <p:ph idx="1" type="body"/>
          </p:nvPr>
        </p:nvSpPr>
        <p:spPr>
          <a:xfrm>
            <a:off x="729450" y="2078875"/>
            <a:ext cx="7688700" cy="2960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In baseball one of the key decisions a manager has to make is how to order the lineup</a:t>
            </a:r>
            <a:endParaRPr/>
          </a:p>
          <a:p>
            <a:pPr indent="-311150" lvl="0" marL="457200" rtl="0" algn="l">
              <a:spcBef>
                <a:spcPts val="1000"/>
              </a:spcBef>
              <a:spcAft>
                <a:spcPts val="0"/>
              </a:spcAft>
              <a:buSzPts val="1300"/>
              <a:buChar char="●"/>
            </a:pPr>
            <a:r>
              <a:rPr lang="en"/>
              <a:t>It is generally overlooked in importance as a manager’s decision in terms of pitching substitutions and strategy is usually considered more important</a:t>
            </a:r>
            <a:endParaRPr/>
          </a:p>
          <a:p>
            <a:pPr indent="-311150" lvl="0" marL="457200" rtl="0" algn="l">
              <a:spcBef>
                <a:spcPts val="1000"/>
              </a:spcBef>
              <a:spcAft>
                <a:spcPts val="0"/>
              </a:spcAft>
              <a:buSzPts val="1300"/>
              <a:buChar char="●"/>
            </a:pPr>
            <a:r>
              <a:rPr lang="en"/>
              <a:t>However the order of the lineup has an effect on the game, as you want your better hitters early in the lineup so they can hit more times and contribute more to your team.</a:t>
            </a:r>
            <a:endParaRPr/>
          </a:p>
          <a:p>
            <a:pPr indent="-311150" lvl="0" marL="457200" rtl="0" algn="l">
              <a:spcBef>
                <a:spcPts val="1000"/>
              </a:spcBef>
              <a:spcAft>
                <a:spcPts val="0"/>
              </a:spcAft>
              <a:buSzPts val="1300"/>
              <a:buChar char="●"/>
            </a:pPr>
            <a:r>
              <a:rPr lang="en"/>
              <a:t>In our background research, we discovered that beyond just placing better hitters earlier in the common conventional wisdom is:  </a:t>
            </a:r>
            <a:endParaRPr/>
          </a:p>
          <a:p>
            <a:pPr indent="-298450" lvl="1" marL="914400" rtl="0" algn="l">
              <a:spcBef>
                <a:spcPts val="0"/>
              </a:spcBef>
              <a:spcAft>
                <a:spcPts val="0"/>
              </a:spcAft>
              <a:buSzPts val="1100"/>
              <a:buChar char="○"/>
            </a:pPr>
            <a:r>
              <a:rPr lang="en"/>
              <a:t>Place </a:t>
            </a:r>
            <a:r>
              <a:rPr lang="en"/>
              <a:t>highest OBP bat</a:t>
            </a:r>
            <a:r>
              <a:rPr lang="en"/>
              <a:t>ters 1st and 2nd </a:t>
            </a:r>
            <a:endParaRPr/>
          </a:p>
          <a:p>
            <a:pPr indent="-298450" lvl="1" marL="914400" rtl="0" algn="l">
              <a:spcBef>
                <a:spcPts val="0"/>
              </a:spcBef>
              <a:spcAft>
                <a:spcPts val="0"/>
              </a:spcAft>
              <a:buSzPts val="1100"/>
              <a:buChar char="○"/>
            </a:pPr>
            <a:r>
              <a:rPr lang="en"/>
              <a:t>This sets them up for the best hitter, in the 3rd spot. </a:t>
            </a:r>
            <a:endParaRPr/>
          </a:p>
          <a:p>
            <a:pPr indent="-298450" lvl="1" marL="914400" rtl="0" algn="l">
              <a:spcBef>
                <a:spcPts val="0"/>
              </a:spcBef>
              <a:spcAft>
                <a:spcPts val="0"/>
              </a:spcAft>
              <a:buSzPts val="1100"/>
              <a:buChar char="○"/>
            </a:pPr>
            <a:r>
              <a:rPr lang="en"/>
              <a:t>Then, the 4th and 5th spots would be the best power hitters</a:t>
            </a:r>
            <a:endParaRPr/>
          </a:p>
          <a:p>
            <a:pPr indent="-298450" lvl="1" marL="914400" rtl="0" algn="l">
              <a:spcBef>
                <a:spcPts val="0"/>
              </a:spcBef>
              <a:spcAft>
                <a:spcPts val="0"/>
              </a:spcAft>
              <a:buSzPts val="1100"/>
              <a:buChar char="○"/>
            </a:pPr>
            <a:r>
              <a:rPr lang="en"/>
              <a:t>Finally, batters 6-9 would be ordered best to worst.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a:t>
            </a:r>
            <a:endParaRPr/>
          </a:p>
        </p:txBody>
      </p:sp>
      <p:sp>
        <p:nvSpPr>
          <p:cNvPr id="99" name="Google Shape;99;p15"/>
          <p:cNvSpPr txBox="1"/>
          <p:nvPr>
            <p:ph idx="1" type="body"/>
          </p:nvPr>
        </p:nvSpPr>
        <p:spPr>
          <a:xfrm>
            <a:off x="729450" y="2078875"/>
            <a:ext cx="7688700" cy="2890800"/>
          </a:xfrm>
          <a:prstGeom prst="rect">
            <a:avLst/>
          </a:prstGeom>
        </p:spPr>
        <p:txBody>
          <a:bodyPr anchorCtr="0" anchor="t" bIns="91425" lIns="91425" spcFirstLastPara="1" rIns="91425" wrap="square" tIns="91425">
            <a:noAutofit/>
          </a:bodyPr>
          <a:lstStyle/>
          <a:p>
            <a:pPr indent="-317658" lvl="0" marL="457200" rtl="0" algn="l">
              <a:lnSpc>
                <a:spcPct val="95000"/>
              </a:lnSpc>
              <a:spcBef>
                <a:spcPts val="0"/>
              </a:spcBef>
              <a:spcAft>
                <a:spcPts val="0"/>
              </a:spcAft>
              <a:buSzPts val="1403"/>
              <a:buChar char="●"/>
            </a:pPr>
            <a:r>
              <a:rPr lang="en" sz="1402"/>
              <a:t>Our initial plan was to create a model to optimize MLB batting lineups.</a:t>
            </a:r>
            <a:endParaRPr sz="1402"/>
          </a:p>
          <a:p>
            <a:pPr indent="-317658" lvl="0" marL="457200" rtl="0" algn="l">
              <a:lnSpc>
                <a:spcPct val="95000"/>
              </a:lnSpc>
              <a:spcBef>
                <a:spcPts val="1000"/>
              </a:spcBef>
              <a:spcAft>
                <a:spcPts val="0"/>
              </a:spcAft>
              <a:buSzPts val="1403"/>
              <a:buChar char="●"/>
            </a:pPr>
            <a:r>
              <a:rPr lang="en" sz="1402"/>
              <a:t>We realized that this question might be too complex with adjustments and multiple tests needed</a:t>
            </a:r>
            <a:endParaRPr sz="1402"/>
          </a:p>
          <a:p>
            <a:pPr indent="-317658" lvl="0" marL="457200" rtl="0" algn="l">
              <a:lnSpc>
                <a:spcPct val="95000"/>
              </a:lnSpc>
              <a:spcBef>
                <a:spcPts val="1000"/>
              </a:spcBef>
              <a:spcAft>
                <a:spcPts val="0"/>
              </a:spcAft>
              <a:buSzPts val="1403"/>
              <a:buChar char="●"/>
            </a:pPr>
            <a:r>
              <a:rPr lang="en" sz="1402"/>
              <a:t>With limited time and trouble with the raw data, our plan evolved to investigating the conventional wisdom in batting lineups.</a:t>
            </a:r>
            <a:endParaRPr sz="1402"/>
          </a:p>
          <a:p>
            <a:pPr indent="-317658" lvl="0" marL="457200" rtl="0" algn="l">
              <a:lnSpc>
                <a:spcPct val="95000"/>
              </a:lnSpc>
              <a:spcBef>
                <a:spcPts val="1000"/>
              </a:spcBef>
              <a:spcAft>
                <a:spcPts val="0"/>
              </a:spcAft>
              <a:buSzPts val="1403"/>
              <a:buChar char="●"/>
            </a:pPr>
            <a:r>
              <a:rPr lang="en" sz="1402"/>
              <a:t>To investigate the validity of this, we looked at statistics from </a:t>
            </a:r>
            <a:r>
              <a:rPr lang="en" sz="1402"/>
              <a:t>websites Baseball Reference and FanGraphs, such as on-base percentage, OPS,, slugging percentage, batting average, and more.</a:t>
            </a:r>
            <a:endParaRPr sz="1402"/>
          </a:p>
          <a:p>
            <a:pPr indent="-317658" lvl="0" marL="457200" rtl="0" algn="l">
              <a:lnSpc>
                <a:spcPct val="95000"/>
              </a:lnSpc>
              <a:spcBef>
                <a:spcPts val="1000"/>
              </a:spcBef>
              <a:spcAft>
                <a:spcPts val="1000"/>
              </a:spcAft>
              <a:buSzPts val="1403"/>
              <a:buChar char="●"/>
            </a:pPr>
            <a:r>
              <a:rPr lang="en" sz="1402"/>
              <a:t>We chose to look at the time period 2012-2019, cutting out the shortened 2020 season, as well as universal DH season, and any seasons pre-sabermetric era.</a:t>
            </a:r>
            <a:endParaRPr sz="1402"/>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Question &amp; Relevance</a:t>
            </a:r>
            <a:endParaRPr/>
          </a:p>
        </p:txBody>
      </p:sp>
      <p:sp>
        <p:nvSpPr>
          <p:cNvPr id="105" name="Google Shape;105;p16"/>
          <p:cNvSpPr txBox="1"/>
          <p:nvPr>
            <p:ph idx="1" type="body"/>
          </p:nvPr>
        </p:nvSpPr>
        <p:spPr>
          <a:xfrm>
            <a:off x="729450" y="1853850"/>
            <a:ext cx="7688700" cy="3289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b="1" lang="en" sz="1500" u="sng"/>
              <a:t>Final Question:</a:t>
            </a:r>
            <a:r>
              <a:rPr lang="en" sz="1500"/>
              <a:t> Is </a:t>
            </a:r>
            <a:r>
              <a:rPr lang="en" sz="1500"/>
              <a:t>conventional</a:t>
            </a:r>
            <a:r>
              <a:rPr lang="en" sz="1500"/>
              <a:t> </a:t>
            </a:r>
            <a:r>
              <a:rPr lang="en" sz="1500"/>
              <a:t>wisdom, with on-base batters 1st and 2nd, the best hitter 3rd, and power hitters 4th and 5th still used by MLB managers to construct their lineups today?</a:t>
            </a:r>
            <a:endParaRPr sz="1500"/>
          </a:p>
          <a:p>
            <a:pPr indent="-323850" lvl="0" marL="457200" rtl="0" algn="l">
              <a:spcBef>
                <a:spcPts val="1000"/>
              </a:spcBef>
              <a:spcAft>
                <a:spcPts val="0"/>
              </a:spcAft>
              <a:buSzPts val="1500"/>
              <a:buChar char="●"/>
            </a:pPr>
            <a:r>
              <a:rPr lang="en" sz="1500"/>
              <a:t>Investigating our initial question would have had relevance to MLB front offices, managers, and fans, showing them how to best manage their teams for optimal performance.</a:t>
            </a:r>
            <a:endParaRPr sz="1500"/>
          </a:p>
          <a:p>
            <a:pPr indent="-323850" lvl="0" marL="457200" rtl="0" algn="l">
              <a:spcBef>
                <a:spcPts val="1000"/>
              </a:spcBef>
              <a:spcAft>
                <a:spcPts val="0"/>
              </a:spcAft>
              <a:buSzPts val="1500"/>
              <a:buChar char="●"/>
            </a:pPr>
            <a:r>
              <a:rPr lang="en" sz="1500"/>
              <a:t>This new question has relevance to similar audiences.</a:t>
            </a:r>
            <a:endParaRPr sz="1500"/>
          </a:p>
          <a:p>
            <a:pPr indent="-323850" lvl="0" marL="457200" rtl="0" algn="l">
              <a:spcBef>
                <a:spcPts val="1000"/>
              </a:spcBef>
              <a:spcAft>
                <a:spcPts val="1000"/>
              </a:spcAft>
              <a:buSzPts val="1500"/>
              <a:buChar char="●"/>
            </a:pPr>
            <a:r>
              <a:rPr lang="en" sz="1500"/>
              <a:t>This question can be investigated throughout time to see whether the conventional wisdom about lineup construction is still used by MLB front offices or whether there is more optimal way to construct lineups.</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Hypotheses</a:t>
            </a:r>
            <a:endParaRPr/>
          </a:p>
        </p:txBody>
      </p:sp>
      <p:sp>
        <p:nvSpPr>
          <p:cNvPr id="111" name="Google Shape;111;p17"/>
          <p:cNvSpPr txBox="1"/>
          <p:nvPr>
            <p:ph idx="1" type="body"/>
          </p:nvPr>
        </p:nvSpPr>
        <p:spPr>
          <a:xfrm>
            <a:off x="729450" y="2078875"/>
            <a:ext cx="7688700" cy="2930400"/>
          </a:xfrm>
          <a:prstGeom prst="rect">
            <a:avLst/>
          </a:prstGeom>
        </p:spPr>
        <p:txBody>
          <a:bodyPr anchorCtr="0" anchor="t" bIns="91425" lIns="91425" spcFirstLastPara="1" rIns="91425" wrap="square" tIns="91425">
            <a:normAutofit lnSpcReduction="10000"/>
          </a:bodyPr>
          <a:lstStyle/>
          <a:p>
            <a:pPr indent="-355600" lvl="0" marL="457200" rtl="0" algn="l">
              <a:spcBef>
                <a:spcPts val="0"/>
              </a:spcBef>
              <a:spcAft>
                <a:spcPts val="0"/>
              </a:spcAft>
              <a:buSzPts val="2000"/>
              <a:buChar char="●"/>
            </a:pPr>
            <a:r>
              <a:rPr lang="en" sz="2000"/>
              <a:t>Our hypotheses for our analysis are as follows:</a:t>
            </a:r>
            <a:endParaRPr sz="2000"/>
          </a:p>
          <a:p>
            <a:pPr indent="-323850" lvl="1" marL="914400" rtl="0" algn="l">
              <a:spcBef>
                <a:spcPts val="0"/>
              </a:spcBef>
              <a:spcAft>
                <a:spcPts val="0"/>
              </a:spcAft>
              <a:buSzPts val="1500"/>
              <a:buChar char="○"/>
            </a:pPr>
            <a:r>
              <a:rPr lang="en" sz="1500"/>
              <a:t>MLB batting orders will have a strong relationship with hitting statistics </a:t>
            </a:r>
            <a:endParaRPr sz="1500"/>
          </a:p>
          <a:p>
            <a:pPr indent="-323850" lvl="1" marL="914400" rtl="0" algn="l">
              <a:spcBef>
                <a:spcPts val="0"/>
              </a:spcBef>
              <a:spcAft>
                <a:spcPts val="0"/>
              </a:spcAft>
              <a:buSzPts val="1500"/>
              <a:buChar char="○"/>
            </a:pPr>
            <a:r>
              <a:rPr lang="en" sz="1500"/>
              <a:t>Conventional lineup wisdom is still used in the MLB</a:t>
            </a:r>
            <a:endParaRPr sz="1500"/>
          </a:p>
          <a:p>
            <a:pPr indent="-355600" lvl="0" marL="457200" rtl="0" algn="l">
              <a:spcBef>
                <a:spcPts val="1000"/>
              </a:spcBef>
              <a:spcAft>
                <a:spcPts val="0"/>
              </a:spcAft>
              <a:buSzPts val="2000"/>
              <a:buChar char="●"/>
            </a:pPr>
            <a:r>
              <a:rPr lang="en" sz="2000"/>
              <a:t>This will be investigated with multiple paired hypothesis tests comparing the batting statistics of multiple different lineup positions.</a:t>
            </a:r>
            <a:endParaRPr sz="2000"/>
          </a:p>
          <a:p>
            <a:pPr indent="-355600" lvl="0" marL="457200" rtl="0" algn="l">
              <a:spcBef>
                <a:spcPts val="1000"/>
              </a:spcBef>
              <a:spcAft>
                <a:spcPts val="0"/>
              </a:spcAft>
              <a:buSzPts val="2000"/>
              <a:buChar char="●"/>
            </a:pPr>
            <a:r>
              <a:rPr lang="en" sz="2000"/>
              <a:t>ANOVA tests will also be used for </a:t>
            </a:r>
            <a:r>
              <a:rPr lang="en" sz="2000"/>
              <a:t>comparing</a:t>
            </a:r>
            <a:r>
              <a:rPr lang="en" sz="2000"/>
              <a:t> the means of different batting statistics across lineup positions.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Baseball Statistic Dictionary</a:t>
            </a:r>
            <a:endParaRPr/>
          </a:p>
        </p:txBody>
      </p:sp>
      <p:sp>
        <p:nvSpPr>
          <p:cNvPr id="117" name="Google Shape;117;p18"/>
          <p:cNvSpPr txBox="1"/>
          <p:nvPr>
            <p:ph idx="1" type="body"/>
          </p:nvPr>
        </p:nvSpPr>
        <p:spPr>
          <a:xfrm>
            <a:off x="603450" y="1753150"/>
            <a:ext cx="7688700" cy="3725400"/>
          </a:xfrm>
          <a:prstGeom prst="rect">
            <a:avLst/>
          </a:prstGeom>
        </p:spPr>
        <p:txBody>
          <a:bodyPr anchorCtr="0" anchor="t" bIns="91425" lIns="91425" spcFirstLastPara="1" rIns="91425" wrap="square" tIns="91425">
            <a:normAutofit fontScale="40000"/>
          </a:bodyPr>
          <a:lstStyle/>
          <a:p>
            <a:pPr indent="-323850" lvl="0" marL="457200" rtl="0" algn="l">
              <a:spcBef>
                <a:spcPts val="0"/>
              </a:spcBef>
              <a:spcAft>
                <a:spcPts val="0"/>
              </a:spcAft>
              <a:buSzPct val="100000"/>
              <a:buChar char="●"/>
            </a:pPr>
            <a:r>
              <a:rPr lang="en" sz="3750"/>
              <a:t>Before we </a:t>
            </a:r>
            <a:r>
              <a:rPr lang="en" sz="3750"/>
              <a:t>continue, it is important to understand the following baseball statistics</a:t>
            </a:r>
            <a:endParaRPr sz="3750"/>
          </a:p>
          <a:p>
            <a:pPr indent="-292353" lvl="0" marL="457200" rtl="0" algn="l">
              <a:spcBef>
                <a:spcPts val="0"/>
              </a:spcBef>
              <a:spcAft>
                <a:spcPts val="0"/>
              </a:spcAft>
              <a:buSzPct val="100000"/>
              <a:buChar char="●"/>
            </a:pPr>
            <a:r>
              <a:rPr lang="en" sz="2509"/>
              <a:t>Batting Avera</a:t>
            </a:r>
            <a:r>
              <a:rPr lang="en" sz="2509"/>
              <a:t>ge (AVG or BA) - The percentage of At-bats where a player gets a hit</a:t>
            </a:r>
            <a:endParaRPr sz="2509"/>
          </a:p>
          <a:p>
            <a:pPr indent="-287273" lvl="1" marL="914400" rtl="0" algn="l">
              <a:spcBef>
                <a:spcPts val="0"/>
              </a:spcBef>
              <a:spcAft>
                <a:spcPts val="0"/>
              </a:spcAft>
              <a:buSzPct val="100000"/>
              <a:buChar char="○"/>
            </a:pPr>
            <a:r>
              <a:rPr lang="en" sz="2309"/>
              <a:t>AVG = hits/at-bats</a:t>
            </a:r>
            <a:endParaRPr sz="2309"/>
          </a:p>
          <a:p>
            <a:pPr indent="-287273" lvl="1" marL="914400" rtl="0" algn="l">
              <a:spcBef>
                <a:spcPts val="0"/>
              </a:spcBef>
              <a:spcAft>
                <a:spcPts val="0"/>
              </a:spcAft>
              <a:buSzPct val="100000"/>
              <a:buChar char="○"/>
            </a:pPr>
            <a:r>
              <a:rPr lang="en" sz="2309"/>
              <a:t>All hits are weighted the same</a:t>
            </a:r>
            <a:endParaRPr sz="2309"/>
          </a:p>
          <a:p>
            <a:pPr indent="-287273" lvl="1" marL="914400" rtl="0" algn="l">
              <a:spcBef>
                <a:spcPts val="0"/>
              </a:spcBef>
              <a:spcAft>
                <a:spcPts val="0"/>
              </a:spcAft>
              <a:buSzPct val="100000"/>
              <a:buChar char="○"/>
            </a:pPr>
            <a:r>
              <a:rPr lang="en" sz="2309"/>
              <a:t>At-bats are used instead of plate appearances, which excludes walks, hit by pitches, etc.</a:t>
            </a:r>
            <a:endParaRPr sz="2309"/>
          </a:p>
          <a:p>
            <a:pPr indent="-287273" lvl="1" marL="914400" rtl="0" algn="l">
              <a:spcBef>
                <a:spcPts val="0"/>
              </a:spcBef>
              <a:spcAft>
                <a:spcPts val="0"/>
              </a:spcAft>
              <a:buSzPct val="100000"/>
              <a:buChar char="○"/>
            </a:pPr>
            <a:r>
              <a:rPr lang="en" sz="2309"/>
              <a:t>Good stat for picking out the best on-base hitters</a:t>
            </a:r>
            <a:endParaRPr sz="2309"/>
          </a:p>
          <a:p>
            <a:pPr indent="-292353" lvl="0" marL="457200" rtl="0" algn="l">
              <a:spcBef>
                <a:spcPts val="0"/>
              </a:spcBef>
              <a:spcAft>
                <a:spcPts val="0"/>
              </a:spcAft>
              <a:buSzPct val="100000"/>
              <a:buChar char="●"/>
            </a:pPr>
            <a:r>
              <a:rPr lang="en" sz="2509"/>
              <a:t>On-Base Percentage (OBP) - the </a:t>
            </a:r>
            <a:r>
              <a:rPr lang="en" sz="2509"/>
              <a:t>percentage of time a player gets on-base</a:t>
            </a:r>
            <a:endParaRPr sz="2509"/>
          </a:p>
          <a:p>
            <a:pPr indent="-287273" lvl="1" marL="914400" rtl="0" algn="l">
              <a:spcBef>
                <a:spcPts val="0"/>
              </a:spcBef>
              <a:spcAft>
                <a:spcPts val="0"/>
              </a:spcAft>
              <a:buSzPct val="100000"/>
              <a:buChar char="○"/>
            </a:pPr>
            <a:r>
              <a:rPr lang="en" sz="2309"/>
              <a:t>OBP = (hits+walks+hit by pitches)/plate appearances</a:t>
            </a:r>
            <a:endParaRPr sz="2309"/>
          </a:p>
          <a:p>
            <a:pPr indent="-287273" lvl="1" marL="914400" rtl="0" algn="l">
              <a:spcBef>
                <a:spcPts val="0"/>
              </a:spcBef>
              <a:spcAft>
                <a:spcPts val="0"/>
              </a:spcAft>
              <a:buSzPct val="100000"/>
              <a:buChar char="○"/>
            </a:pPr>
            <a:r>
              <a:rPr lang="en" sz="2309"/>
              <a:t>Accounting for how much a player gets hit and walked, while still emphasizing hits</a:t>
            </a:r>
            <a:endParaRPr sz="2309"/>
          </a:p>
          <a:p>
            <a:pPr indent="-287273" lvl="1" marL="914400" rtl="0" algn="l">
              <a:spcBef>
                <a:spcPts val="0"/>
              </a:spcBef>
              <a:spcAft>
                <a:spcPts val="0"/>
              </a:spcAft>
              <a:buSzPct val="100000"/>
              <a:buChar char="○"/>
            </a:pPr>
            <a:r>
              <a:rPr lang="en" sz="2309"/>
              <a:t>Good stat for picking out the best on-base hitters</a:t>
            </a:r>
            <a:endParaRPr sz="2309"/>
          </a:p>
          <a:p>
            <a:pPr indent="-292353" lvl="0" marL="457200" rtl="0" algn="l">
              <a:spcBef>
                <a:spcPts val="0"/>
              </a:spcBef>
              <a:spcAft>
                <a:spcPts val="0"/>
              </a:spcAft>
              <a:buSzPct val="100000"/>
              <a:buChar char="●"/>
            </a:pPr>
            <a:r>
              <a:rPr lang="en" sz="2509"/>
              <a:t>Slugging Percentage (SLG) - the average amount of bases a player gets per at-bat</a:t>
            </a:r>
            <a:endParaRPr sz="2509"/>
          </a:p>
          <a:p>
            <a:pPr indent="-287273" lvl="1" marL="914400" rtl="0" algn="l">
              <a:spcBef>
                <a:spcPts val="0"/>
              </a:spcBef>
              <a:spcAft>
                <a:spcPts val="0"/>
              </a:spcAft>
              <a:buSzPct val="100000"/>
              <a:buChar char="○"/>
            </a:pPr>
            <a:r>
              <a:rPr lang="en" sz="2309"/>
              <a:t>SLG = (singles+2*doubles+3*triples+4*homeruns)/at-bats</a:t>
            </a:r>
            <a:endParaRPr sz="2309"/>
          </a:p>
          <a:p>
            <a:pPr indent="-287273" lvl="1" marL="914400" rtl="0" algn="l">
              <a:spcBef>
                <a:spcPts val="0"/>
              </a:spcBef>
              <a:spcAft>
                <a:spcPts val="0"/>
              </a:spcAft>
              <a:buSzPct val="100000"/>
              <a:buChar char="○"/>
            </a:pPr>
            <a:r>
              <a:rPr lang="en" sz="2309"/>
              <a:t>Weights hits differently, so that more impactful hits give higher values, contrary to batting average</a:t>
            </a:r>
            <a:endParaRPr sz="2309"/>
          </a:p>
          <a:p>
            <a:pPr indent="-287273" lvl="1" marL="914400" rtl="0" algn="l">
              <a:spcBef>
                <a:spcPts val="0"/>
              </a:spcBef>
              <a:spcAft>
                <a:spcPts val="0"/>
              </a:spcAft>
              <a:buSzPct val="100000"/>
              <a:buChar char="○"/>
            </a:pPr>
            <a:r>
              <a:rPr lang="en" sz="2309"/>
              <a:t>Still </a:t>
            </a:r>
            <a:r>
              <a:rPr lang="en" sz="2309"/>
              <a:t>doesn't</a:t>
            </a:r>
            <a:r>
              <a:rPr lang="en" sz="2309"/>
              <a:t> account for walks or hit by pitches</a:t>
            </a:r>
            <a:endParaRPr sz="2309"/>
          </a:p>
          <a:p>
            <a:pPr indent="-287273" lvl="1" marL="914400" rtl="0" algn="l">
              <a:spcBef>
                <a:spcPts val="0"/>
              </a:spcBef>
              <a:spcAft>
                <a:spcPts val="0"/>
              </a:spcAft>
              <a:buSzPct val="100000"/>
              <a:buChar char="○"/>
            </a:pPr>
            <a:r>
              <a:rPr lang="en" sz="2309"/>
              <a:t>Good stat for picking out the best power hitters</a:t>
            </a:r>
            <a:endParaRPr sz="2309"/>
          </a:p>
          <a:p>
            <a:pPr indent="-292353" lvl="0" marL="457200" rtl="0" algn="l">
              <a:spcBef>
                <a:spcPts val="0"/>
              </a:spcBef>
              <a:spcAft>
                <a:spcPts val="0"/>
              </a:spcAft>
              <a:buSzPct val="100000"/>
              <a:buChar char="●"/>
            </a:pPr>
            <a:r>
              <a:rPr lang="en" sz="2509"/>
              <a:t>On-Base Percentage + Slugging Percentage (OPS)</a:t>
            </a:r>
            <a:endParaRPr sz="2509"/>
          </a:p>
          <a:p>
            <a:pPr indent="-287273" lvl="1" marL="914400" rtl="0" algn="l">
              <a:spcBef>
                <a:spcPts val="0"/>
              </a:spcBef>
              <a:spcAft>
                <a:spcPts val="0"/>
              </a:spcAft>
              <a:buSzPct val="100000"/>
              <a:buChar char="○"/>
            </a:pPr>
            <a:r>
              <a:rPr lang="en" sz="2309"/>
              <a:t>OPS = on-base percentage +slugging percentage</a:t>
            </a:r>
            <a:endParaRPr sz="2309"/>
          </a:p>
          <a:p>
            <a:pPr indent="-287273" lvl="1" marL="914400" rtl="0" algn="l">
              <a:spcBef>
                <a:spcPts val="0"/>
              </a:spcBef>
              <a:spcAft>
                <a:spcPts val="0"/>
              </a:spcAft>
              <a:buSzPct val="100000"/>
              <a:buChar char="○"/>
            </a:pPr>
            <a:r>
              <a:rPr lang="en" sz="2309"/>
              <a:t>Accounts for how often a player gets on base and how impactful their hits are</a:t>
            </a:r>
            <a:endParaRPr sz="2309"/>
          </a:p>
          <a:p>
            <a:pPr indent="-287273" lvl="1" marL="914400" rtl="0" algn="l">
              <a:spcBef>
                <a:spcPts val="0"/>
              </a:spcBef>
              <a:spcAft>
                <a:spcPts val="0"/>
              </a:spcAft>
              <a:buSzPct val="100000"/>
              <a:buChar char="○"/>
            </a:pPr>
            <a:r>
              <a:rPr lang="en" sz="2309"/>
              <a:t>Good stat for picking out the best overall hitters</a:t>
            </a:r>
            <a:endParaRPr sz="2309"/>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Sourcing our Data</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All of the data was collected from MLB games and MLB player performances, and we used two sources to access the data:</a:t>
            </a:r>
            <a:endParaRPr/>
          </a:p>
          <a:p>
            <a:pPr indent="-311150" lvl="0" marL="457200" rtl="0" algn="l">
              <a:spcBef>
                <a:spcPts val="0"/>
              </a:spcBef>
              <a:spcAft>
                <a:spcPts val="0"/>
              </a:spcAft>
              <a:buSzPts val="1300"/>
              <a:buChar char="●"/>
            </a:pPr>
            <a:r>
              <a:rPr lang="en"/>
              <a:t>Retrosheet had game logs for all past MLB games. </a:t>
            </a:r>
            <a:endParaRPr/>
          </a:p>
          <a:p>
            <a:pPr indent="-298450" lvl="1" marL="914400" rtl="0" algn="l">
              <a:spcBef>
                <a:spcPts val="0"/>
              </a:spcBef>
              <a:spcAft>
                <a:spcPts val="0"/>
              </a:spcAft>
              <a:buSzPts val="1100"/>
              <a:buChar char="○"/>
            </a:pPr>
            <a:r>
              <a:rPr lang="en"/>
              <a:t>From these game logs, we used the lineup order and result for every game.</a:t>
            </a:r>
            <a:endParaRPr/>
          </a:p>
          <a:p>
            <a:pPr indent="-311150" lvl="0" marL="457200" rtl="0" algn="l">
              <a:spcBef>
                <a:spcPts val="0"/>
              </a:spcBef>
              <a:spcAft>
                <a:spcPts val="0"/>
              </a:spcAft>
              <a:buSzPts val="1300"/>
              <a:buChar char="●"/>
            </a:pPr>
            <a:r>
              <a:rPr lang="en"/>
              <a:t>Baseball Reference had hitting splits over specifiable periods of time.</a:t>
            </a:r>
            <a:endParaRPr/>
          </a:p>
          <a:p>
            <a:pPr indent="-298450" lvl="1" marL="914400" rtl="0" algn="l">
              <a:spcBef>
                <a:spcPts val="0"/>
              </a:spcBef>
              <a:spcAft>
                <a:spcPts val="0"/>
              </a:spcAft>
              <a:buSzPts val="1100"/>
              <a:buChar char="○"/>
            </a:pPr>
            <a:r>
              <a:rPr lang="en"/>
              <a:t>From these hitting splits, we used hitting statistics from the past season</a:t>
            </a:r>
            <a:endParaRPr/>
          </a:p>
          <a:p>
            <a:pPr indent="-311150" lvl="0" marL="457200" rtl="0" algn="l">
              <a:spcBef>
                <a:spcPts val="0"/>
              </a:spcBef>
              <a:spcAft>
                <a:spcPts val="0"/>
              </a:spcAft>
              <a:buSzPts val="1300"/>
              <a:buChar char="●"/>
            </a:pPr>
            <a:r>
              <a:rPr lang="en"/>
              <a:t>Merging the data from these two sources gave us a dataset that we could analyze in order to answer our research questions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Scope of the Data</a:t>
            </a:r>
            <a:endParaRPr/>
          </a:p>
        </p:txBody>
      </p:sp>
      <p:sp>
        <p:nvSpPr>
          <p:cNvPr id="129" name="Google Shape;129;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We decided Sabermetric Era in baseball which is from 2012 to the present. </a:t>
            </a:r>
            <a:endParaRPr/>
          </a:p>
          <a:p>
            <a:pPr indent="-311150" lvl="0" marL="457200" rtl="0" algn="l">
              <a:spcBef>
                <a:spcPts val="0"/>
              </a:spcBef>
              <a:spcAft>
                <a:spcPts val="0"/>
              </a:spcAft>
              <a:buSzPts val="1300"/>
              <a:buChar char="●"/>
            </a:pPr>
            <a:r>
              <a:rPr lang="en"/>
              <a:t>Additionally, the pandemic significantly distorted the MLB season and caused a number of rule changes so we decided to not include the pandemic year (2020) or post pandemic years in our analysis.</a:t>
            </a:r>
            <a:endParaRPr/>
          </a:p>
          <a:p>
            <a:pPr indent="-311150" lvl="0" marL="457200" rtl="0" algn="l">
              <a:spcBef>
                <a:spcPts val="0"/>
              </a:spcBef>
              <a:spcAft>
                <a:spcPts val="0"/>
              </a:spcAft>
              <a:buSzPts val="1300"/>
              <a:buChar char="●"/>
            </a:pPr>
            <a:r>
              <a:rPr lang="en"/>
              <a:t>Consequently, our data would be over a time frame ranging from 2012 to 2019. </a:t>
            </a:r>
            <a:endParaRPr/>
          </a:p>
          <a:p>
            <a:pPr indent="-311150" lvl="0" marL="457200" rtl="0" algn="l">
              <a:spcBef>
                <a:spcPts val="0"/>
              </a:spcBef>
              <a:spcAft>
                <a:spcPts val="0"/>
              </a:spcAft>
              <a:buSzPts val="1300"/>
              <a:buChar char="●"/>
            </a:pPr>
            <a:r>
              <a:rPr lang="en"/>
              <a:t>We eliminated non qualified hitters from the dataset because they would present outliers in many rate statistics (AVG, OBP, etc.) due the small sample size of their play over the hitting split.</a:t>
            </a:r>
            <a:endParaRPr/>
          </a:p>
          <a:p>
            <a:pPr indent="-311150" lvl="0" marL="457200" rtl="0" algn="l">
              <a:spcBef>
                <a:spcPts val="0"/>
              </a:spcBef>
              <a:spcAft>
                <a:spcPts val="0"/>
              </a:spcAft>
              <a:buSzPts val="1300"/>
              <a:buChar char="●"/>
            </a:pPr>
            <a:r>
              <a:rPr lang="en"/>
              <a:t>For the hitting statistics, we decided to focus on hitting “rate statistics” such as AVG, OBP, SLG and OPS, because they are less susceptible to outliers than counting statistics.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Resulting Data &amp; Data Dictionary</a:t>
            </a:r>
            <a:endParaRPr/>
          </a:p>
        </p:txBody>
      </p:sp>
      <p:sp>
        <p:nvSpPr>
          <p:cNvPr id="135" name="Google Shape;135;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en"/>
              <a:t>The resulting data set would include 155,280 data points, where each data point was a hitter </a:t>
            </a:r>
            <a:r>
              <a:rPr lang="en"/>
              <a:t>with</a:t>
            </a:r>
            <a:r>
              <a:rPr lang="en"/>
              <a:t> some lineup position on a particular date with their hitting splits from the previous year.</a:t>
            </a:r>
            <a:endParaRPr/>
          </a:p>
          <a:p>
            <a:pPr indent="-311150" lvl="0" marL="457200" rtl="0" algn="l">
              <a:spcBef>
                <a:spcPts val="0"/>
              </a:spcBef>
              <a:spcAft>
                <a:spcPts val="0"/>
              </a:spcAft>
              <a:buSzPts val="1300"/>
              <a:buChar char="●"/>
            </a:pPr>
            <a:r>
              <a:rPr lang="en"/>
              <a:t>This meant there was some </a:t>
            </a:r>
            <a:r>
              <a:rPr lang="en"/>
              <a:t>repetition</a:t>
            </a:r>
            <a:r>
              <a:rPr lang="en"/>
              <a:t> in the data because some teams keep their lineups mostly the same, but the size of the dataset meant this </a:t>
            </a:r>
            <a:r>
              <a:rPr lang="en"/>
              <a:t>repetition</a:t>
            </a:r>
            <a:r>
              <a:rPr lang="en"/>
              <a:t> would not be largely impactful on results</a:t>
            </a:r>
            <a:endParaRPr/>
          </a:p>
          <a:p>
            <a:pPr indent="-311150" lvl="0" marL="457200" rtl="0" algn="l">
              <a:spcBef>
                <a:spcPts val="0"/>
              </a:spcBef>
              <a:spcAft>
                <a:spcPts val="0"/>
              </a:spcAft>
              <a:buSzPts val="1300"/>
              <a:buChar char="●"/>
            </a:pPr>
            <a:r>
              <a:rPr lang="en"/>
              <a:t>All of the data points included the following statistics relevant to the analysis:</a:t>
            </a:r>
            <a:endParaRPr/>
          </a:p>
          <a:p>
            <a:pPr indent="-298450" lvl="1" marL="914400" rtl="0" algn="l">
              <a:spcBef>
                <a:spcPts val="0"/>
              </a:spcBef>
              <a:spcAft>
                <a:spcPts val="0"/>
              </a:spcAft>
              <a:buSzPts val="1100"/>
              <a:buChar char="○"/>
            </a:pPr>
            <a:r>
              <a:rPr lang="en"/>
              <a:t>Lineup Position - Response Variable, position that the player batted in the lineup on that day</a:t>
            </a:r>
            <a:endParaRPr/>
          </a:p>
          <a:p>
            <a:pPr indent="-298450" lvl="1" marL="914400" rtl="0" algn="l">
              <a:spcBef>
                <a:spcPts val="0"/>
              </a:spcBef>
              <a:spcAft>
                <a:spcPts val="0"/>
              </a:spcAft>
              <a:buSzPts val="1100"/>
              <a:buChar char="○"/>
            </a:pPr>
            <a:r>
              <a:rPr lang="en"/>
              <a:t>BA (or AVG) - Explanatory Variable, the batting average the player had in the previous year</a:t>
            </a:r>
            <a:endParaRPr/>
          </a:p>
          <a:p>
            <a:pPr indent="-298450" lvl="1" marL="914400" rtl="0" algn="l">
              <a:spcBef>
                <a:spcPts val="0"/>
              </a:spcBef>
              <a:spcAft>
                <a:spcPts val="0"/>
              </a:spcAft>
              <a:buSzPts val="1100"/>
              <a:buChar char="○"/>
            </a:pPr>
            <a:r>
              <a:rPr lang="en"/>
              <a:t>OBP - Explanatory Variable, the on base percentage the player had in the previous year</a:t>
            </a:r>
            <a:endParaRPr/>
          </a:p>
          <a:p>
            <a:pPr indent="-298450" lvl="1" marL="914400" rtl="0" algn="l">
              <a:spcBef>
                <a:spcPts val="0"/>
              </a:spcBef>
              <a:spcAft>
                <a:spcPts val="0"/>
              </a:spcAft>
              <a:buSzPts val="1100"/>
              <a:buChar char="○"/>
            </a:pPr>
            <a:r>
              <a:rPr lang="en"/>
              <a:t>SLG - Explanatory Variable, the slugging percentage the player had in the previous year</a:t>
            </a:r>
            <a:endParaRPr/>
          </a:p>
          <a:p>
            <a:pPr indent="-298450" lvl="1" marL="914400" rtl="0" algn="l">
              <a:spcBef>
                <a:spcPts val="0"/>
              </a:spcBef>
              <a:spcAft>
                <a:spcPts val="0"/>
              </a:spcAft>
              <a:buSzPts val="1100"/>
              <a:buChar char="○"/>
            </a:pPr>
            <a:r>
              <a:rPr lang="en"/>
              <a:t>OPS - Explanatory Variable, the on-base plus slugging percentage the </a:t>
            </a:r>
            <a:r>
              <a:rPr lang="en"/>
              <a:t>player had in the previous year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Analysis </a:t>
            </a:r>
            <a:endParaRPr/>
          </a:p>
        </p:txBody>
      </p:sp>
      <p:sp>
        <p:nvSpPr>
          <p:cNvPr id="141" name="Google Shape;141;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First step in the analysis is to determine whether each of the explanatory variables (AVG, OBP, SLG, OPS)  have a relationship with the response variable of lineup position.</a:t>
            </a:r>
            <a:endParaRPr/>
          </a:p>
          <a:p>
            <a:pPr indent="-311150" lvl="0" marL="457200" rtl="0" algn="l">
              <a:spcBef>
                <a:spcPts val="0"/>
              </a:spcBef>
              <a:spcAft>
                <a:spcPts val="0"/>
              </a:spcAft>
              <a:buSzPts val="1300"/>
              <a:buChar char="●"/>
            </a:pPr>
            <a:r>
              <a:rPr lang="en"/>
              <a:t>To do this we conducted multiple one way ANOVA tests and linear regression between lineup position and each of the explanatory variables separately</a:t>
            </a:r>
            <a:endParaRPr/>
          </a:p>
          <a:p>
            <a:pPr indent="-311150" lvl="0" marL="457200" rtl="0" algn="l">
              <a:spcBef>
                <a:spcPts val="0"/>
              </a:spcBef>
              <a:spcAft>
                <a:spcPts val="0"/>
              </a:spcAft>
              <a:buSzPts val="1300"/>
              <a:buChar char="●"/>
            </a:pPr>
            <a:r>
              <a:rPr lang="en"/>
              <a:t>However to do this, certain assumptions </a:t>
            </a:r>
            <a:r>
              <a:rPr lang="en"/>
              <a:t>must</a:t>
            </a:r>
            <a:r>
              <a:rPr lang="en"/>
              <a:t> be </a:t>
            </a:r>
            <a:r>
              <a:rPr lang="en"/>
              <a:t>checked</a:t>
            </a:r>
            <a:r>
              <a:rPr lang="en"/>
              <a:t>. </a:t>
            </a:r>
            <a:endParaRPr/>
          </a:p>
          <a:p>
            <a:pPr indent="-298450" lvl="1" marL="914400" rtl="0" algn="l">
              <a:spcBef>
                <a:spcPts val="0"/>
              </a:spcBef>
              <a:spcAft>
                <a:spcPts val="0"/>
              </a:spcAft>
              <a:buSzPts val="1100"/>
              <a:buChar char="○"/>
            </a:pPr>
            <a:r>
              <a:rPr lang="en"/>
              <a:t>The independence assumption satisfied because the dataset includes the entire population over the time frame and scope we are considering.</a:t>
            </a:r>
            <a:endParaRPr/>
          </a:p>
          <a:p>
            <a:pPr indent="-298450" lvl="1" marL="914400" rtl="0" algn="l">
              <a:spcBef>
                <a:spcPts val="0"/>
              </a:spcBef>
              <a:spcAft>
                <a:spcPts val="0"/>
              </a:spcAft>
              <a:buSzPts val="1100"/>
              <a:buChar char="○"/>
            </a:pPr>
            <a:r>
              <a:rPr lang="en"/>
              <a:t>The equal variance assumption is satisfied because the variance among the explanatory variable all come from the same hitting splits dataset before being divided into groups based on lineup positions.</a:t>
            </a:r>
            <a:endParaRPr/>
          </a:p>
          <a:p>
            <a:pPr indent="-298450" lvl="1" marL="914400" rtl="0" algn="l">
              <a:spcBef>
                <a:spcPts val="0"/>
              </a:spcBef>
              <a:spcAft>
                <a:spcPts val="0"/>
              </a:spcAft>
              <a:buSzPts val="1100"/>
              <a:buChar char="○"/>
            </a:pPr>
            <a:r>
              <a:rPr lang="en"/>
              <a:t>The normality assumption can be checked using histograms and Q-Q plots.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idx="4294967295" type="title"/>
          </p:nvPr>
        </p:nvSpPr>
        <p:spPr>
          <a:xfrm>
            <a:off x="131450" y="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Checking Normality</a:t>
            </a:r>
            <a:endParaRPr/>
          </a:p>
        </p:txBody>
      </p:sp>
      <p:sp>
        <p:nvSpPr>
          <p:cNvPr id="147" name="Google Shape;147;p23"/>
          <p:cNvSpPr txBox="1"/>
          <p:nvPr>
            <p:ph idx="1" type="body"/>
          </p:nvPr>
        </p:nvSpPr>
        <p:spPr>
          <a:xfrm>
            <a:off x="724950" y="4372549"/>
            <a:ext cx="7697400" cy="77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assumption of normality seems mostly sound, however there is slight skew visible in the histograms for BA, OBP and SLG.</a:t>
            </a:r>
            <a:endParaRPr/>
          </a:p>
        </p:txBody>
      </p:sp>
      <p:pic>
        <p:nvPicPr>
          <p:cNvPr id="148" name="Google Shape;148;p23"/>
          <p:cNvPicPr preferRelativeResize="0"/>
          <p:nvPr/>
        </p:nvPicPr>
        <p:blipFill rotWithShape="1">
          <a:blip r:embed="rId3">
            <a:alphaModFix/>
          </a:blip>
          <a:srcRect b="0" l="0" r="0" t="0"/>
          <a:stretch/>
        </p:blipFill>
        <p:spPr>
          <a:xfrm>
            <a:off x="1517575" y="591025"/>
            <a:ext cx="6112157" cy="3781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idx="4294967295" type="title"/>
          </p:nvPr>
        </p:nvSpPr>
        <p:spPr>
          <a:xfrm>
            <a:off x="131450" y="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Checking Normality</a:t>
            </a:r>
            <a:endParaRPr/>
          </a:p>
        </p:txBody>
      </p:sp>
      <p:sp>
        <p:nvSpPr>
          <p:cNvPr id="154" name="Google Shape;154;p24"/>
          <p:cNvSpPr txBox="1"/>
          <p:nvPr>
            <p:ph idx="1" type="body"/>
          </p:nvPr>
        </p:nvSpPr>
        <p:spPr>
          <a:xfrm>
            <a:off x="724950" y="4372549"/>
            <a:ext cx="7697400" cy="77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assumption of normality seems however there is visible deviation from a straight line on all the Q-Q plots. </a:t>
            </a:r>
            <a:endParaRPr/>
          </a:p>
        </p:txBody>
      </p:sp>
      <p:pic>
        <p:nvPicPr>
          <p:cNvPr id="155" name="Google Shape;155;p24"/>
          <p:cNvPicPr preferRelativeResize="0"/>
          <p:nvPr/>
        </p:nvPicPr>
        <p:blipFill rotWithShape="1">
          <a:blip r:embed="rId3">
            <a:alphaModFix/>
          </a:blip>
          <a:srcRect b="0" l="0" r="0" t="0"/>
          <a:stretch/>
        </p:blipFill>
        <p:spPr>
          <a:xfrm>
            <a:off x="1517575" y="591025"/>
            <a:ext cx="6112157" cy="3781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Analysis</a:t>
            </a:r>
            <a:endParaRPr/>
          </a:p>
        </p:txBody>
      </p:sp>
      <p:sp>
        <p:nvSpPr>
          <p:cNvPr id="161" name="Google Shape;161;p2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336550" lvl="0" marL="457200" rtl="0" algn="l">
              <a:spcBef>
                <a:spcPts val="0"/>
              </a:spcBef>
              <a:spcAft>
                <a:spcPts val="0"/>
              </a:spcAft>
              <a:buSzPts val="1700"/>
              <a:buChar char="●"/>
            </a:pPr>
            <a:r>
              <a:rPr lang="en" sz="1700"/>
              <a:t>However, ANOVA is robust against slight departures from normality if the size of the groups are the same.</a:t>
            </a:r>
            <a:endParaRPr sz="1700"/>
          </a:p>
          <a:p>
            <a:pPr indent="-336550" lvl="0" marL="457200" rtl="0" algn="l">
              <a:spcBef>
                <a:spcPts val="0"/>
              </a:spcBef>
              <a:spcAft>
                <a:spcPts val="0"/>
              </a:spcAft>
              <a:buSzPts val="1700"/>
              <a:buChar char="●"/>
            </a:pPr>
            <a:r>
              <a:rPr lang="en" sz="1700"/>
              <a:t>So despite the slight departure from normality, the assumptions for ANOVA and simple linear regression</a:t>
            </a:r>
            <a:endParaRPr sz="1700"/>
          </a:p>
          <a:p>
            <a:pPr indent="-336550" lvl="0" marL="457200" rtl="0" algn="l">
              <a:spcBef>
                <a:spcPts val="0"/>
              </a:spcBef>
              <a:spcAft>
                <a:spcPts val="0"/>
              </a:spcAft>
              <a:buSzPts val="1700"/>
              <a:buChar char="●"/>
            </a:pPr>
            <a:r>
              <a:rPr lang="en" sz="1700"/>
              <a:t>ANOVA Null Hypothesis = the true mean </a:t>
            </a:r>
            <a:r>
              <a:rPr lang="en" sz="1700"/>
              <a:t>of the batting statistic is equal for each lineup position (for batting statistics: avg, obp, slg, ops)</a:t>
            </a:r>
            <a:endParaRPr sz="1700"/>
          </a:p>
          <a:p>
            <a:pPr indent="-336550" lvl="0" marL="457200" rtl="0" algn="l">
              <a:spcBef>
                <a:spcPts val="0"/>
              </a:spcBef>
              <a:spcAft>
                <a:spcPts val="0"/>
              </a:spcAft>
              <a:buSzPts val="1700"/>
              <a:buChar char="●"/>
            </a:pPr>
            <a:r>
              <a:rPr lang="en" sz="1700"/>
              <a:t>ANOVA Alternative Hypothesis = the true mean of the batting statistic is not equal for each lineup position (for batting statistics: avg, obp, slg, ops)</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en"/>
              <a:t>All of the ANOVA tests show very high F test statistics and very low p-values. </a:t>
            </a:r>
            <a:r>
              <a:rPr lang="en"/>
              <a:t>Hence we can reject the null hypothesis and conclude that BA, OBP, SLG and OPS differ by lineup position.</a:t>
            </a:r>
            <a:endParaRPr/>
          </a:p>
        </p:txBody>
      </p:sp>
      <p:pic>
        <p:nvPicPr>
          <p:cNvPr id="167" name="Google Shape;167;p26"/>
          <p:cNvPicPr preferRelativeResize="0"/>
          <p:nvPr/>
        </p:nvPicPr>
        <p:blipFill>
          <a:blip r:embed="rId3">
            <a:alphaModFix/>
          </a:blip>
          <a:stretch>
            <a:fillRect/>
          </a:stretch>
        </p:blipFill>
        <p:spPr>
          <a:xfrm>
            <a:off x="1495050" y="800100"/>
            <a:ext cx="4972050" cy="3543300"/>
          </a:xfrm>
          <a:prstGeom prst="rect">
            <a:avLst/>
          </a:prstGeom>
          <a:noFill/>
          <a:ln>
            <a:noFill/>
          </a:ln>
        </p:spPr>
      </p:pic>
      <p:sp>
        <p:nvSpPr>
          <p:cNvPr id="168" name="Google Shape;168;p26"/>
          <p:cNvSpPr txBox="1"/>
          <p:nvPr>
            <p:ph idx="4294967295" type="title"/>
          </p:nvPr>
        </p:nvSpPr>
        <p:spPr>
          <a:xfrm>
            <a:off x="131450" y="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ANOVA Tests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ANOVA Results</a:t>
            </a:r>
            <a:endParaRPr/>
          </a:p>
        </p:txBody>
      </p:sp>
      <p:sp>
        <p:nvSpPr>
          <p:cNvPr id="174" name="Google Shape;174;p27"/>
          <p:cNvSpPr txBox="1"/>
          <p:nvPr>
            <p:ph idx="1" type="body"/>
          </p:nvPr>
        </p:nvSpPr>
        <p:spPr>
          <a:xfrm>
            <a:off x="729450" y="2078875"/>
            <a:ext cx="7688700" cy="28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Using ANOVA we determined that there is difference in BA, OBP, SLG and OPS by lineup position</a:t>
            </a:r>
            <a:endParaRPr/>
          </a:p>
          <a:p>
            <a:pPr indent="-311150" lvl="0" marL="457200" rtl="0" algn="l">
              <a:spcBef>
                <a:spcPts val="1000"/>
              </a:spcBef>
              <a:spcAft>
                <a:spcPts val="0"/>
              </a:spcAft>
              <a:buSzPts val="1300"/>
              <a:buChar char="●"/>
            </a:pPr>
            <a:r>
              <a:rPr lang="en"/>
              <a:t>Each of the tests yielded a p-value that would reject the null hypothesis for equal means for each of the statistics at all the lineup positions.</a:t>
            </a:r>
            <a:endParaRPr/>
          </a:p>
          <a:p>
            <a:pPr indent="-311150" lvl="0" marL="457200" rtl="0" algn="l">
              <a:spcBef>
                <a:spcPts val="1000"/>
              </a:spcBef>
              <a:spcAft>
                <a:spcPts val="0"/>
              </a:spcAft>
              <a:buSzPts val="1300"/>
              <a:buChar char="●"/>
            </a:pPr>
            <a:r>
              <a:rPr lang="en"/>
              <a:t>We conclude that there is statistical evidence was found that BA, OBP, SLG and OPS are not independent of lineup position.</a:t>
            </a:r>
            <a:endParaRPr/>
          </a:p>
          <a:p>
            <a:pPr indent="-311150" lvl="0" marL="457200" rtl="0" algn="l">
              <a:spcBef>
                <a:spcPts val="1000"/>
              </a:spcBef>
              <a:spcAft>
                <a:spcPts val="0"/>
              </a:spcAft>
              <a:buSzPts val="1300"/>
              <a:buChar char="●"/>
            </a:pPr>
            <a:r>
              <a:rPr lang="en"/>
              <a:t>The next step is determine what type of relationship this is based on a simple linear regression with each of the </a:t>
            </a:r>
            <a:r>
              <a:rPr lang="en"/>
              <a:t>explanatory</a:t>
            </a:r>
            <a:r>
              <a:rPr lang="en"/>
              <a:t> variables used to predict lineup position</a:t>
            </a:r>
            <a:endParaRPr/>
          </a:p>
          <a:p>
            <a:pPr indent="-311150" lvl="0" marL="457200" rtl="0" algn="l">
              <a:spcBef>
                <a:spcPts val="1000"/>
              </a:spcBef>
              <a:spcAft>
                <a:spcPts val="1000"/>
              </a:spcAft>
              <a:buSzPts val="1300"/>
              <a:buChar char="●"/>
            </a:pPr>
            <a:r>
              <a:rPr lang="en"/>
              <a:t>For the </a:t>
            </a:r>
            <a:r>
              <a:rPr lang="en"/>
              <a:t>linear</a:t>
            </a:r>
            <a:r>
              <a:rPr lang="en"/>
              <a:t> regression the null hypothesis is that each of the coefficients are 0, and the p-values are then calculated from this for each of the coefficients in each regression model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idx="4294967295" type="title"/>
          </p:nvPr>
        </p:nvSpPr>
        <p:spPr>
          <a:xfrm>
            <a:off x="131450" y="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Linear Regression for BA </a:t>
            </a:r>
            <a:endParaRPr/>
          </a:p>
        </p:txBody>
      </p:sp>
      <p:sp>
        <p:nvSpPr>
          <p:cNvPr id="180" name="Google Shape;180;p28"/>
          <p:cNvSpPr txBox="1"/>
          <p:nvPr>
            <p:ph idx="1" type="body"/>
          </p:nvPr>
        </p:nvSpPr>
        <p:spPr>
          <a:xfrm>
            <a:off x="724950" y="3846326"/>
            <a:ext cx="7697400" cy="1297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From the results of the regression we can conclude that the BA has a negative relationship with lineup position because the p-value for that coefficient is very small (meaning that as BA increases, lineup position decreases). However, the regression is very weak and only account for ~8% of the error in the data and meaning it is not an adequate model to predict lineup position.</a:t>
            </a:r>
            <a:endParaRPr/>
          </a:p>
          <a:p>
            <a:pPr indent="0" lvl="0" marL="0" rtl="0" algn="l">
              <a:spcBef>
                <a:spcPts val="0"/>
              </a:spcBef>
              <a:spcAft>
                <a:spcPts val="0"/>
              </a:spcAft>
              <a:buNone/>
            </a:pPr>
            <a:r>
              <a:t/>
            </a:r>
            <a:endParaRPr/>
          </a:p>
        </p:txBody>
      </p:sp>
      <p:pic>
        <p:nvPicPr>
          <p:cNvPr id="181" name="Google Shape;181;p28"/>
          <p:cNvPicPr preferRelativeResize="0"/>
          <p:nvPr/>
        </p:nvPicPr>
        <p:blipFill>
          <a:blip r:embed="rId3">
            <a:alphaModFix/>
          </a:blip>
          <a:stretch>
            <a:fillRect/>
          </a:stretch>
        </p:blipFill>
        <p:spPr>
          <a:xfrm>
            <a:off x="0" y="1597125"/>
            <a:ext cx="4373675" cy="1949225"/>
          </a:xfrm>
          <a:prstGeom prst="rect">
            <a:avLst/>
          </a:prstGeom>
          <a:noFill/>
          <a:ln>
            <a:noFill/>
          </a:ln>
        </p:spPr>
      </p:pic>
      <p:pic>
        <p:nvPicPr>
          <p:cNvPr id="182" name="Google Shape;182;p28"/>
          <p:cNvPicPr preferRelativeResize="0"/>
          <p:nvPr/>
        </p:nvPicPr>
        <p:blipFill>
          <a:blip r:embed="rId4">
            <a:alphaModFix/>
          </a:blip>
          <a:stretch>
            <a:fillRect/>
          </a:stretch>
        </p:blipFill>
        <p:spPr>
          <a:xfrm>
            <a:off x="4572000" y="1019192"/>
            <a:ext cx="4572001" cy="282713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idx="4294967295" type="title"/>
          </p:nvPr>
        </p:nvSpPr>
        <p:spPr>
          <a:xfrm>
            <a:off x="131450" y="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Linear Regression for OBP</a:t>
            </a:r>
            <a:endParaRPr/>
          </a:p>
        </p:txBody>
      </p:sp>
      <p:sp>
        <p:nvSpPr>
          <p:cNvPr id="188" name="Google Shape;188;p29"/>
          <p:cNvSpPr txBox="1"/>
          <p:nvPr>
            <p:ph idx="1" type="body"/>
          </p:nvPr>
        </p:nvSpPr>
        <p:spPr>
          <a:xfrm>
            <a:off x="724950" y="3846326"/>
            <a:ext cx="7697400" cy="1297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From the results of the regression we can conclude that the OBP has a negative relationship with lineup position because the p-value for that coefficient is very small (meaning that as OBP increases, lineup position decreases). However, the regression is very weak and only account for ~9% of the error in the data and meaning it is not an adequate model to predict lineup position. However it can be noted that this is a better linear predictor for lineup position than BA.</a:t>
            </a:r>
            <a:endParaRPr/>
          </a:p>
        </p:txBody>
      </p:sp>
      <p:pic>
        <p:nvPicPr>
          <p:cNvPr id="189" name="Google Shape;189;p29"/>
          <p:cNvPicPr preferRelativeResize="0"/>
          <p:nvPr/>
        </p:nvPicPr>
        <p:blipFill rotWithShape="1">
          <a:blip r:embed="rId3">
            <a:alphaModFix/>
          </a:blip>
          <a:srcRect b="0" l="0" r="0" t="0"/>
          <a:stretch/>
        </p:blipFill>
        <p:spPr>
          <a:xfrm>
            <a:off x="4572000" y="1019192"/>
            <a:ext cx="4572001" cy="2827133"/>
          </a:xfrm>
          <a:prstGeom prst="rect">
            <a:avLst/>
          </a:prstGeom>
          <a:noFill/>
          <a:ln>
            <a:noFill/>
          </a:ln>
        </p:spPr>
      </p:pic>
      <p:pic>
        <p:nvPicPr>
          <p:cNvPr id="190" name="Google Shape;190;p29"/>
          <p:cNvPicPr preferRelativeResize="0"/>
          <p:nvPr/>
        </p:nvPicPr>
        <p:blipFill>
          <a:blip r:embed="rId4">
            <a:alphaModFix/>
          </a:blip>
          <a:stretch>
            <a:fillRect/>
          </a:stretch>
        </p:blipFill>
        <p:spPr>
          <a:xfrm>
            <a:off x="0" y="1555256"/>
            <a:ext cx="4572000" cy="205321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idx="4294967295" type="title"/>
          </p:nvPr>
        </p:nvSpPr>
        <p:spPr>
          <a:xfrm>
            <a:off x="131450" y="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Linear Regression for SLG </a:t>
            </a:r>
            <a:endParaRPr/>
          </a:p>
        </p:txBody>
      </p:sp>
      <p:sp>
        <p:nvSpPr>
          <p:cNvPr id="196" name="Google Shape;196;p30"/>
          <p:cNvSpPr txBox="1"/>
          <p:nvPr>
            <p:ph idx="1" type="body"/>
          </p:nvPr>
        </p:nvSpPr>
        <p:spPr>
          <a:xfrm>
            <a:off x="724950" y="3846326"/>
            <a:ext cx="7697400" cy="129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a:t>From the results of the regression we can conclude that the SLG has a negative relationship with lineup position because the p-value for that coefficient is very small (meaning that as SLG increases, lineup position decreases). However, the regression is very weak and only account for ~3% of the error in the data and meaning it is not an adequate model to predict lineup position. However it can be noted that this is a worse linear predictor than both BA and OBP for lineup position.</a:t>
            </a:r>
            <a:endParaRPr/>
          </a:p>
          <a:p>
            <a:pPr indent="0" lvl="0" marL="0" rtl="0" algn="l">
              <a:spcBef>
                <a:spcPts val="0"/>
              </a:spcBef>
              <a:spcAft>
                <a:spcPts val="0"/>
              </a:spcAft>
              <a:buNone/>
            </a:pPr>
            <a:r>
              <a:t/>
            </a:r>
            <a:endParaRPr/>
          </a:p>
        </p:txBody>
      </p:sp>
      <p:pic>
        <p:nvPicPr>
          <p:cNvPr id="197" name="Google Shape;197;p30"/>
          <p:cNvPicPr preferRelativeResize="0"/>
          <p:nvPr/>
        </p:nvPicPr>
        <p:blipFill rotWithShape="1">
          <a:blip r:embed="rId3">
            <a:alphaModFix/>
          </a:blip>
          <a:srcRect b="0" l="0" r="0" t="0"/>
          <a:stretch/>
        </p:blipFill>
        <p:spPr>
          <a:xfrm>
            <a:off x="4572000" y="1019192"/>
            <a:ext cx="4572001" cy="2827133"/>
          </a:xfrm>
          <a:prstGeom prst="rect">
            <a:avLst/>
          </a:prstGeom>
          <a:noFill/>
          <a:ln>
            <a:noFill/>
          </a:ln>
        </p:spPr>
      </p:pic>
      <p:pic>
        <p:nvPicPr>
          <p:cNvPr id="198" name="Google Shape;198;p30"/>
          <p:cNvPicPr preferRelativeResize="0"/>
          <p:nvPr/>
        </p:nvPicPr>
        <p:blipFill>
          <a:blip r:embed="rId4">
            <a:alphaModFix/>
          </a:blip>
          <a:stretch>
            <a:fillRect/>
          </a:stretch>
        </p:blipFill>
        <p:spPr>
          <a:xfrm>
            <a:off x="0" y="1416763"/>
            <a:ext cx="4572000" cy="203199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idx="4294967295" type="title"/>
          </p:nvPr>
        </p:nvSpPr>
        <p:spPr>
          <a:xfrm>
            <a:off x="131450" y="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Linear Regression for OPS</a:t>
            </a:r>
            <a:endParaRPr/>
          </a:p>
        </p:txBody>
      </p:sp>
      <p:sp>
        <p:nvSpPr>
          <p:cNvPr id="204" name="Google Shape;204;p31"/>
          <p:cNvSpPr txBox="1"/>
          <p:nvPr>
            <p:ph idx="1" type="body"/>
          </p:nvPr>
        </p:nvSpPr>
        <p:spPr>
          <a:xfrm>
            <a:off x="724950" y="3846326"/>
            <a:ext cx="7697400" cy="1297200"/>
          </a:xfrm>
          <a:prstGeom prst="rect">
            <a:avLst/>
          </a:prstGeom>
        </p:spPr>
        <p:txBody>
          <a:bodyPr anchorCtr="0" anchor="ctr" bIns="91425" lIns="91425" spcFirstLastPara="1" rIns="91425" wrap="square" tIns="91425">
            <a:normAutofit lnSpcReduction="20000"/>
          </a:bodyPr>
          <a:lstStyle/>
          <a:p>
            <a:pPr indent="0" lvl="0" marL="0" rtl="0" algn="l">
              <a:spcBef>
                <a:spcPts val="0"/>
              </a:spcBef>
              <a:spcAft>
                <a:spcPts val="0"/>
              </a:spcAft>
              <a:buNone/>
            </a:pPr>
            <a:r>
              <a:rPr lang="en"/>
              <a:t>From the results of the regression we can conclude that the OPS has a negative relationship with lineup position because the p-value for that coefficient is very small (meaning that as OPS increases, lineup position decreases). However, the regression is very weak and only account for ~3% of the error in the data and meaning it is not an adequate model to predict lineup position. However it can be noted that this is a worse linear predictor than both BA and OBP for lineup position but a better linear predictor than SLG.</a:t>
            </a:r>
            <a:endParaRPr/>
          </a:p>
          <a:p>
            <a:pPr indent="0" lvl="0" marL="0" rtl="0" algn="l">
              <a:spcBef>
                <a:spcPts val="0"/>
              </a:spcBef>
              <a:spcAft>
                <a:spcPts val="0"/>
              </a:spcAft>
              <a:buNone/>
            </a:pPr>
            <a:r>
              <a:t/>
            </a:r>
            <a:endParaRPr/>
          </a:p>
        </p:txBody>
      </p:sp>
      <p:pic>
        <p:nvPicPr>
          <p:cNvPr id="205" name="Google Shape;205;p31"/>
          <p:cNvPicPr preferRelativeResize="0"/>
          <p:nvPr/>
        </p:nvPicPr>
        <p:blipFill rotWithShape="1">
          <a:blip r:embed="rId3">
            <a:alphaModFix/>
          </a:blip>
          <a:srcRect b="0" l="0" r="0" t="0"/>
          <a:stretch/>
        </p:blipFill>
        <p:spPr>
          <a:xfrm>
            <a:off x="4572000" y="1019192"/>
            <a:ext cx="4572001" cy="2827133"/>
          </a:xfrm>
          <a:prstGeom prst="rect">
            <a:avLst/>
          </a:prstGeom>
          <a:noFill/>
          <a:ln>
            <a:noFill/>
          </a:ln>
        </p:spPr>
      </p:pic>
      <p:pic>
        <p:nvPicPr>
          <p:cNvPr id="206" name="Google Shape;206;p31"/>
          <p:cNvPicPr preferRelativeResize="0"/>
          <p:nvPr/>
        </p:nvPicPr>
        <p:blipFill>
          <a:blip r:embed="rId4">
            <a:alphaModFix/>
          </a:blip>
          <a:stretch>
            <a:fillRect/>
          </a:stretch>
        </p:blipFill>
        <p:spPr>
          <a:xfrm>
            <a:off x="0" y="1417701"/>
            <a:ext cx="4572000" cy="203011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idx="1" type="body"/>
          </p:nvPr>
        </p:nvSpPr>
        <p:spPr>
          <a:xfrm>
            <a:off x="729450" y="1853850"/>
            <a:ext cx="7688700" cy="2681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None of the variables have a strong linear relationship</a:t>
            </a:r>
            <a:endParaRPr/>
          </a:p>
          <a:p>
            <a:pPr indent="-298450" lvl="1" marL="914400" rtl="0" algn="l">
              <a:spcBef>
                <a:spcPts val="0"/>
              </a:spcBef>
              <a:spcAft>
                <a:spcPts val="0"/>
              </a:spcAft>
              <a:buSzPts val="1100"/>
              <a:buChar char="○"/>
            </a:pPr>
            <a:r>
              <a:rPr lang="en"/>
              <a:t>Relationship takes some other shape, not completely linear which is also observable on the residual plots for each of the linear regressions that show a pattern meaning the linear model is not sound.</a:t>
            </a:r>
            <a:endParaRPr/>
          </a:p>
          <a:p>
            <a:pPr indent="-311150" lvl="0" marL="457200" rtl="0" algn="l">
              <a:spcBef>
                <a:spcPts val="0"/>
              </a:spcBef>
              <a:spcAft>
                <a:spcPts val="0"/>
              </a:spcAft>
              <a:buSzPts val="1300"/>
              <a:buChar char="●"/>
            </a:pPr>
            <a:r>
              <a:rPr lang="en"/>
              <a:t>All of the variables have a negative relationship with lineup position.</a:t>
            </a:r>
            <a:endParaRPr/>
          </a:p>
          <a:p>
            <a:pPr indent="-298450" lvl="1" marL="914400" rtl="0" algn="l">
              <a:spcBef>
                <a:spcPts val="0"/>
              </a:spcBef>
              <a:spcAft>
                <a:spcPts val="0"/>
              </a:spcAft>
              <a:buSzPts val="1100"/>
              <a:buChar char="○"/>
            </a:pPr>
            <a:r>
              <a:rPr lang="en"/>
              <a:t>Intuitively, this makes sense as better hitters will generally have higher rates across all these statistics meaning it would make sense according to basic conventional wisdom that these hitters would be placed earlier in the lineup.</a:t>
            </a:r>
            <a:endParaRPr/>
          </a:p>
          <a:p>
            <a:pPr indent="-311150" lvl="0" marL="457200" rtl="0" algn="l">
              <a:spcBef>
                <a:spcPts val="0"/>
              </a:spcBef>
              <a:spcAft>
                <a:spcPts val="0"/>
              </a:spcAft>
              <a:buSzPts val="1300"/>
              <a:buChar char="●"/>
            </a:pPr>
            <a:r>
              <a:rPr lang="en"/>
              <a:t>OBP has the strongest linear relationship with lineup position out of the variables examined. </a:t>
            </a:r>
            <a:endParaRPr/>
          </a:p>
          <a:p>
            <a:pPr indent="-298450" lvl="1" marL="914400" rtl="0" algn="l">
              <a:spcBef>
                <a:spcPts val="0"/>
              </a:spcBef>
              <a:spcAft>
                <a:spcPts val="0"/>
              </a:spcAft>
              <a:buSzPts val="1100"/>
              <a:buChar char="○"/>
            </a:pPr>
            <a:r>
              <a:rPr lang="en"/>
              <a:t>This is an interesting result because OPS is generally considered to be the better overall measure of a hitter. </a:t>
            </a:r>
            <a:endParaRPr/>
          </a:p>
          <a:p>
            <a:pPr indent="-298450" lvl="1" marL="914400" rtl="0" algn="l">
              <a:spcBef>
                <a:spcPts val="0"/>
              </a:spcBef>
              <a:spcAft>
                <a:spcPts val="0"/>
              </a:spcAft>
              <a:buSzPts val="1100"/>
              <a:buChar char="○"/>
            </a:pPr>
            <a:r>
              <a:rPr lang="en"/>
              <a:t>However, this still makes intuitive sense as favoring players with higher OBP earlier in the lineup means that your hitters will generally get to hit more as higher OBP means a lower chance to get out in any plate appearance. </a:t>
            </a:r>
            <a:endParaRPr/>
          </a:p>
        </p:txBody>
      </p:sp>
      <p:sp>
        <p:nvSpPr>
          <p:cNvPr id="212" name="Google Shape;212;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 Regression Conclusions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Regression</a:t>
            </a:r>
            <a:endParaRPr/>
          </a:p>
        </p:txBody>
      </p:sp>
      <p:sp>
        <p:nvSpPr>
          <p:cNvPr id="218" name="Google Shape;218;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While looking at multiple regression models we need to consider interaction effects due to the strong covariance/collinearity between </a:t>
            </a:r>
            <a:r>
              <a:rPr lang="en" sz="1500"/>
              <a:t>variables</a:t>
            </a:r>
            <a:r>
              <a:rPr lang="en" sz="1500"/>
              <a:t> in the dataset</a:t>
            </a:r>
            <a:endParaRPr sz="1500"/>
          </a:p>
          <a:p>
            <a:pPr indent="-323850" lvl="0" marL="457200" rtl="0" algn="l">
              <a:spcBef>
                <a:spcPts val="1000"/>
              </a:spcBef>
              <a:spcAft>
                <a:spcPts val="0"/>
              </a:spcAft>
              <a:buSzPts val="1500"/>
              <a:buChar char="●"/>
            </a:pPr>
            <a:r>
              <a:rPr lang="en" sz="1500"/>
              <a:t>This means that for any multiple regression that is calculated, the p-values for each of the coefficients will not correctly indicate statistical significance due to the level of collinearity</a:t>
            </a:r>
            <a:endParaRPr sz="1500"/>
          </a:p>
          <a:p>
            <a:pPr indent="-323850" lvl="0" marL="457200" rtl="0" algn="l">
              <a:spcBef>
                <a:spcPts val="1000"/>
              </a:spcBef>
              <a:spcAft>
                <a:spcPts val="1000"/>
              </a:spcAft>
              <a:buSzPts val="1500"/>
              <a:buChar char="●"/>
            </a:pPr>
            <a:r>
              <a:rPr lang="en" sz="1500"/>
              <a:t>This means that the primary way to evaluate the model is on the overall value for r-squared.</a:t>
            </a:r>
            <a:endParaRPr sz="1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txBox="1"/>
          <p:nvPr>
            <p:ph idx="4294967295" type="title"/>
          </p:nvPr>
        </p:nvSpPr>
        <p:spPr>
          <a:xfrm>
            <a:off x="131450" y="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Multiple Regression Results</a:t>
            </a:r>
            <a:endParaRPr/>
          </a:p>
        </p:txBody>
      </p:sp>
      <p:sp>
        <p:nvSpPr>
          <p:cNvPr id="224" name="Google Shape;224;p34"/>
          <p:cNvSpPr txBox="1"/>
          <p:nvPr>
            <p:ph idx="1" type="body"/>
          </p:nvPr>
        </p:nvSpPr>
        <p:spPr>
          <a:xfrm>
            <a:off x="724950" y="4643950"/>
            <a:ext cx="7697400" cy="499500"/>
          </a:xfrm>
          <a:prstGeom prst="rect">
            <a:avLst/>
          </a:prstGeom>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lang="en"/>
              <a:t>NOTE: The p-values for the coefficients and overall model need to be evalued with scrutiny due to collinearity in the data</a:t>
            </a:r>
            <a:endParaRPr/>
          </a:p>
        </p:txBody>
      </p:sp>
      <p:pic>
        <p:nvPicPr>
          <p:cNvPr id="225" name="Google Shape;225;p34"/>
          <p:cNvPicPr preferRelativeResize="0"/>
          <p:nvPr/>
        </p:nvPicPr>
        <p:blipFill>
          <a:blip r:embed="rId3">
            <a:alphaModFix/>
          </a:blip>
          <a:stretch>
            <a:fillRect/>
          </a:stretch>
        </p:blipFill>
        <p:spPr>
          <a:xfrm>
            <a:off x="0" y="539525"/>
            <a:ext cx="3467175" cy="4207425"/>
          </a:xfrm>
          <a:prstGeom prst="rect">
            <a:avLst/>
          </a:prstGeom>
          <a:noFill/>
          <a:ln>
            <a:noFill/>
          </a:ln>
        </p:spPr>
      </p:pic>
      <p:pic>
        <p:nvPicPr>
          <p:cNvPr id="226" name="Google Shape;226;p34"/>
          <p:cNvPicPr preferRelativeResize="0"/>
          <p:nvPr/>
        </p:nvPicPr>
        <p:blipFill>
          <a:blip r:embed="rId4">
            <a:alphaModFix/>
          </a:blip>
          <a:stretch>
            <a:fillRect/>
          </a:stretch>
        </p:blipFill>
        <p:spPr>
          <a:xfrm>
            <a:off x="3521350" y="713400"/>
            <a:ext cx="5622650" cy="3476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Regression Conclusions</a:t>
            </a:r>
            <a:endParaRPr/>
          </a:p>
        </p:txBody>
      </p:sp>
      <p:sp>
        <p:nvSpPr>
          <p:cNvPr id="232" name="Google Shape;232;p35"/>
          <p:cNvSpPr txBox="1"/>
          <p:nvPr>
            <p:ph idx="1" type="body"/>
          </p:nvPr>
        </p:nvSpPr>
        <p:spPr>
          <a:xfrm>
            <a:off x="729450" y="2078875"/>
            <a:ext cx="7688700" cy="28515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Char char="●"/>
            </a:pPr>
            <a:r>
              <a:rPr lang="en"/>
              <a:t>Even when accounting for the interaction effects a linear regression model does not work</a:t>
            </a:r>
            <a:endParaRPr/>
          </a:p>
          <a:p>
            <a:pPr indent="-298450" lvl="1" marL="914400" rtl="0" algn="l">
              <a:lnSpc>
                <a:spcPct val="100000"/>
              </a:lnSpc>
              <a:spcBef>
                <a:spcPts val="0"/>
              </a:spcBef>
              <a:spcAft>
                <a:spcPts val="0"/>
              </a:spcAft>
              <a:buSzPts val="1100"/>
              <a:buChar char="○"/>
            </a:pPr>
            <a:r>
              <a:rPr lang="en"/>
              <a:t>The residual plot shows a pattern meaning the model is not sound.</a:t>
            </a:r>
            <a:endParaRPr/>
          </a:p>
          <a:p>
            <a:pPr indent="-311150" lvl="0" marL="457200" rtl="0" algn="l">
              <a:lnSpc>
                <a:spcPct val="100000"/>
              </a:lnSpc>
              <a:spcBef>
                <a:spcPts val="1000"/>
              </a:spcBef>
              <a:spcAft>
                <a:spcPts val="0"/>
              </a:spcAft>
              <a:buSzPts val="1300"/>
              <a:buChar char="●"/>
            </a:pPr>
            <a:r>
              <a:rPr lang="en"/>
              <a:t>The multiple r-squared value indicates that this model only accounts for 12% of the variation in the data.  </a:t>
            </a:r>
            <a:endParaRPr/>
          </a:p>
          <a:p>
            <a:pPr indent="-298450" lvl="1" marL="914400" rtl="0" algn="l">
              <a:lnSpc>
                <a:spcPct val="100000"/>
              </a:lnSpc>
              <a:spcBef>
                <a:spcPts val="0"/>
              </a:spcBef>
              <a:spcAft>
                <a:spcPts val="0"/>
              </a:spcAft>
              <a:buSzPts val="1100"/>
              <a:buChar char="○"/>
            </a:pPr>
            <a:r>
              <a:rPr lang="en"/>
              <a:t>This means that even though the p-values indicates significance, which may also be inaccurate due to collinearity in the data, the model is not good because it only accounts for a small portion of the overall variation meaning it does not predict or explain the data well. </a:t>
            </a:r>
            <a:endParaRPr/>
          </a:p>
          <a:p>
            <a:pPr indent="-311150" lvl="0" marL="457200" rtl="0" algn="l">
              <a:lnSpc>
                <a:spcPct val="100000"/>
              </a:lnSpc>
              <a:spcBef>
                <a:spcPts val="1000"/>
              </a:spcBef>
              <a:spcAft>
                <a:spcPts val="0"/>
              </a:spcAft>
              <a:buSzPts val="1300"/>
              <a:buChar char="●"/>
            </a:pPr>
            <a:r>
              <a:rPr lang="en"/>
              <a:t>More advanced regression techniques could lead to a sound model, </a:t>
            </a:r>
            <a:endParaRPr/>
          </a:p>
          <a:p>
            <a:pPr indent="-311150" lvl="0" marL="457200" rtl="0" algn="l">
              <a:lnSpc>
                <a:spcPct val="100000"/>
              </a:lnSpc>
              <a:spcBef>
                <a:spcPts val="1000"/>
              </a:spcBef>
              <a:spcAft>
                <a:spcPts val="1000"/>
              </a:spcAft>
              <a:buSzPts val="1300"/>
              <a:buChar char="●"/>
            </a:pPr>
            <a:r>
              <a:rPr lang="en"/>
              <a:t>By an ordinary least square regression method, even when accounting for interaction, a regression model to predict lineup position based on hitting statistics does not work.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T-Test 1</a:t>
            </a:r>
            <a:endParaRPr/>
          </a:p>
        </p:txBody>
      </p:sp>
      <p:sp>
        <p:nvSpPr>
          <p:cNvPr id="238" name="Google Shape;238;p36"/>
          <p:cNvSpPr txBox="1"/>
          <p:nvPr>
            <p:ph idx="1" type="body"/>
          </p:nvPr>
        </p:nvSpPr>
        <p:spPr>
          <a:xfrm>
            <a:off x="553550" y="2452300"/>
            <a:ext cx="7688700" cy="2152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Comparing the OBP of the 1st and 2nd batters to the rest to investigate the claim that the 1st and 2nd batters should be the team’s high on-base batters</a:t>
            </a:r>
            <a:endParaRPr/>
          </a:p>
          <a:p>
            <a:pPr indent="0" lvl="0" marL="0" rtl="0" algn="l">
              <a:spcBef>
                <a:spcPts val="1200"/>
              </a:spcBef>
              <a:spcAft>
                <a:spcPts val="0"/>
              </a:spcAft>
              <a:buNone/>
            </a:pPr>
            <a:r>
              <a:rPr lang="en" u="sng"/>
              <a:t>Null Hypothesis: </a:t>
            </a:r>
            <a:r>
              <a:rPr lang="en"/>
              <a:t>The true mean OBP of the 1st and 2nd batters is the same as the OBP of the rest of the lineup.</a:t>
            </a:r>
            <a:endParaRPr/>
          </a:p>
          <a:p>
            <a:pPr indent="0" lvl="0" marL="0" rtl="0" algn="l">
              <a:spcBef>
                <a:spcPts val="0"/>
              </a:spcBef>
              <a:spcAft>
                <a:spcPts val="0"/>
              </a:spcAft>
              <a:buNone/>
            </a:pPr>
            <a:r>
              <a:rPr lang="en" u="sng"/>
              <a:t>Alternative Hypothesis: </a:t>
            </a:r>
            <a:r>
              <a:rPr lang="en"/>
              <a:t>The true mean of OBP for the 1st and 2nd batters is greater than the OBP of the rest of the lineup.</a:t>
            </a:r>
            <a:endParaRPr/>
          </a:p>
          <a:p>
            <a:pPr indent="0" lvl="0" marL="0" rtl="0" algn="l">
              <a:spcBef>
                <a:spcPts val="1200"/>
              </a:spcBef>
              <a:spcAft>
                <a:spcPts val="1200"/>
              </a:spcAft>
              <a:buNone/>
            </a:pPr>
            <a:r>
              <a:rPr lang="en"/>
              <a:t>With an extremely low p-value, we reject the null hypothesis and conclude that t</a:t>
            </a:r>
            <a:r>
              <a:rPr lang="en"/>
              <a:t>he true mean of OBP for the 1st and 2nd batters is greater than the OBP of the rest of the lineup showing that these are a team’s best on base batters</a:t>
            </a:r>
            <a:endParaRPr/>
          </a:p>
        </p:txBody>
      </p:sp>
      <p:pic>
        <p:nvPicPr>
          <p:cNvPr id="239" name="Google Shape;239;p36"/>
          <p:cNvPicPr preferRelativeResize="0"/>
          <p:nvPr/>
        </p:nvPicPr>
        <p:blipFill>
          <a:blip r:embed="rId3">
            <a:alphaModFix/>
          </a:blip>
          <a:stretch>
            <a:fillRect/>
          </a:stretch>
        </p:blipFill>
        <p:spPr>
          <a:xfrm>
            <a:off x="2011575" y="785725"/>
            <a:ext cx="5124450" cy="14859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T-Test 2</a:t>
            </a:r>
            <a:endParaRPr/>
          </a:p>
        </p:txBody>
      </p:sp>
      <p:sp>
        <p:nvSpPr>
          <p:cNvPr id="245" name="Google Shape;245;p37"/>
          <p:cNvSpPr txBox="1"/>
          <p:nvPr>
            <p:ph idx="1" type="body"/>
          </p:nvPr>
        </p:nvSpPr>
        <p:spPr>
          <a:xfrm>
            <a:off x="729450" y="2078875"/>
            <a:ext cx="7688700" cy="293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Comparing the OPS of the 3rd batter to the rest to investigate the claim that the 3rd batter should be the best overall batter</a:t>
            </a:r>
            <a:endParaRPr/>
          </a:p>
          <a:p>
            <a:pPr indent="0" lvl="0" marL="0" rtl="0" algn="l">
              <a:spcBef>
                <a:spcPts val="1200"/>
              </a:spcBef>
              <a:spcAft>
                <a:spcPts val="0"/>
              </a:spcAft>
              <a:buNone/>
            </a:pPr>
            <a:r>
              <a:rPr lang="en" u="sng"/>
              <a:t>Null Hypothesis: </a:t>
            </a:r>
            <a:r>
              <a:rPr lang="en"/>
              <a:t>The true mean OPS of the 3rd batter is the same as the OPS of the rest of the lineup.</a:t>
            </a:r>
            <a:endParaRPr/>
          </a:p>
          <a:p>
            <a:pPr indent="0" lvl="0" marL="0" rtl="0" algn="l">
              <a:spcBef>
                <a:spcPts val="0"/>
              </a:spcBef>
              <a:spcAft>
                <a:spcPts val="0"/>
              </a:spcAft>
              <a:buNone/>
            </a:pPr>
            <a:r>
              <a:rPr lang="en" u="sng"/>
              <a:t>Alternative Hypothesis:</a:t>
            </a:r>
            <a:r>
              <a:rPr lang="en"/>
              <a:t> The true mean of OPS of the 3rd batter is greater than the OPS of the rest of the lineup.</a:t>
            </a:r>
            <a:endParaRPr/>
          </a:p>
          <a:p>
            <a:pPr indent="0" lvl="0" marL="0" rtl="0" algn="l">
              <a:spcBef>
                <a:spcPts val="1200"/>
              </a:spcBef>
              <a:spcAft>
                <a:spcPts val="0"/>
              </a:spcAft>
              <a:buNone/>
            </a:pPr>
            <a:r>
              <a:rPr lang="en"/>
              <a:t>With an extremely low p-value, we reject the null hypothesis and conclude that the true mean of OPS of the 3rd batter is greater than the OPS of the rest of the lineup showing that this is a team’s best overall batter</a:t>
            </a:r>
            <a:endParaRPr/>
          </a:p>
          <a:p>
            <a:pPr indent="0" lvl="0" marL="0" rtl="0" algn="l">
              <a:spcBef>
                <a:spcPts val="1200"/>
              </a:spcBef>
              <a:spcAft>
                <a:spcPts val="1200"/>
              </a:spcAft>
              <a:buNone/>
            </a:pPr>
            <a:r>
              <a:t/>
            </a:r>
            <a:endParaRPr/>
          </a:p>
        </p:txBody>
      </p:sp>
      <p:pic>
        <p:nvPicPr>
          <p:cNvPr id="246" name="Google Shape;246;p37"/>
          <p:cNvPicPr preferRelativeResize="0"/>
          <p:nvPr/>
        </p:nvPicPr>
        <p:blipFill>
          <a:blip r:embed="rId3">
            <a:alphaModFix/>
          </a:blip>
          <a:stretch>
            <a:fillRect/>
          </a:stretch>
        </p:blipFill>
        <p:spPr>
          <a:xfrm>
            <a:off x="1983000" y="592975"/>
            <a:ext cx="5181600" cy="1485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T-Test 3</a:t>
            </a:r>
            <a:endParaRPr/>
          </a:p>
        </p:txBody>
      </p:sp>
      <p:sp>
        <p:nvSpPr>
          <p:cNvPr id="252" name="Google Shape;252;p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Comparing the OPS of the 3rd batter to the 1st and 2nd batters to investigate the claim that the 3rd batter should be the best overall batter, while accounting for the fact that the 4 through 9 hitters will be probably be worse overall (negative relationship for lineup position with OPS) compared to the first half of the lineup.</a:t>
            </a:r>
            <a:endParaRPr/>
          </a:p>
          <a:p>
            <a:pPr indent="0" lvl="0" marL="0" rtl="0" algn="l">
              <a:spcBef>
                <a:spcPts val="1200"/>
              </a:spcBef>
              <a:spcAft>
                <a:spcPts val="0"/>
              </a:spcAft>
              <a:buNone/>
            </a:pPr>
            <a:r>
              <a:rPr lang="en" u="sng"/>
              <a:t>Null Hypothesis: </a:t>
            </a:r>
            <a:r>
              <a:rPr lang="en"/>
              <a:t>The true mean OPS of the 1st and 2nd batters is the same as the OPS of the 3rd batter.</a:t>
            </a:r>
            <a:endParaRPr/>
          </a:p>
          <a:p>
            <a:pPr indent="0" lvl="0" marL="0" rtl="0" algn="l">
              <a:spcBef>
                <a:spcPts val="0"/>
              </a:spcBef>
              <a:spcAft>
                <a:spcPts val="0"/>
              </a:spcAft>
              <a:buNone/>
            </a:pPr>
            <a:r>
              <a:rPr lang="en" u="sng"/>
              <a:t>Alternative Hypothesis:</a:t>
            </a:r>
            <a:r>
              <a:rPr lang="en"/>
              <a:t> The true mean of OPS for the 1st and 2nd batters is less than the OPS of the 3rd batter.</a:t>
            </a:r>
            <a:endParaRPr/>
          </a:p>
          <a:p>
            <a:pPr indent="0" lvl="0" marL="0" rtl="0" algn="l">
              <a:spcBef>
                <a:spcPts val="1200"/>
              </a:spcBef>
              <a:spcAft>
                <a:spcPts val="0"/>
              </a:spcAft>
              <a:buNone/>
            </a:pPr>
            <a:r>
              <a:rPr lang="en"/>
              <a:t>With an extremely low p-value, we reject the null hypothesis and conclude that the true mean of OPS for the 1st and 2nd batters is less than the OPS of the 3rd batter showing that this is a team’s best overall batter</a:t>
            </a:r>
            <a:endParaRPr/>
          </a:p>
          <a:p>
            <a:pPr indent="0" lvl="0" marL="0" rtl="0" algn="l">
              <a:spcBef>
                <a:spcPts val="1200"/>
              </a:spcBef>
              <a:spcAft>
                <a:spcPts val="1200"/>
              </a:spcAft>
              <a:buNone/>
            </a:pPr>
            <a:r>
              <a:t/>
            </a:r>
            <a:endParaRPr/>
          </a:p>
        </p:txBody>
      </p:sp>
      <p:pic>
        <p:nvPicPr>
          <p:cNvPr id="253" name="Google Shape;253;p38"/>
          <p:cNvPicPr preferRelativeResize="0"/>
          <p:nvPr/>
        </p:nvPicPr>
        <p:blipFill>
          <a:blip r:embed="rId3">
            <a:alphaModFix/>
          </a:blip>
          <a:stretch>
            <a:fillRect/>
          </a:stretch>
        </p:blipFill>
        <p:spPr>
          <a:xfrm>
            <a:off x="2002050" y="665425"/>
            <a:ext cx="5143500" cy="1485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T-Test 4</a:t>
            </a:r>
            <a:endParaRPr/>
          </a:p>
        </p:txBody>
      </p:sp>
      <p:sp>
        <p:nvSpPr>
          <p:cNvPr id="259" name="Google Shape;259;p39"/>
          <p:cNvSpPr txBox="1"/>
          <p:nvPr>
            <p:ph idx="1" type="body"/>
          </p:nvPr>
        </p:nvSpPr>
        <p:spPr>
          <a:xfrm>
            <a:off x="729450" y="2161675"/>
            <a:ext cx="7688700" cy="2981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Comparing the SLG of the 4th and 5th batters to the rest to investigate the claim that the 4th and 5th batters should be the team’s best power hitters</a:t>
            </a:r>
            <a:endParaRPr/>
          </a:p>
          <a:p>
            <a:pPr indent="0" lvl="0" marL="0" rtl="0" algn="l">
              <a:spcBef>
                <a:spcPts val="1200"/>
              </a:spcBef>
              <a:spcAft>
                <a:spcPts val="0"/>
              </a:spcAft>
              <a:buNone/>
            </a:pPr>
            <a:r>
              <a:rPr lang="en" u="sng"/>
              <a:t>Null Hypothesis:</a:t>
            </a:r>
            <a:r>
              <a:rPr lang="en"/>
              <a:t> The true mean SLG of the 4th and 5th batters is the same as the SLG of the rest of the lineup.</a:t>
            </a:r>
            <a:endParaRPr/>
          </a:p>
          <a:p>
            <a:pPr indent="0" lvl="0" marL="0" rtl="0" algn="l">
              <a:spcBef>
                <a:spcPts val="0"/>
              </a:spcBef>
              <a:spcAft>
                <a:spcPts val="0"/>
              </a:spcAft>
              <a:buNone/>
            </a:pPr>
            <a:r>
              <a:rPr lang="en" u="sng"/>
              <a:t>Alternative Hypothesis:</a:t>
            </a:r>
            <a:r>
              <a:rPr lang="en"/>
              <a:t> The true mean of SLG for the 4th and 5th batters is greater than the SLG of the rest of the lineup.</a:t>
            </a:r>
            <a:endParaRPr/>
          </a:p>
          <a:p>
            <a:pPr indent="0" lvl="0" marL="0" rtl="0" algn="l">
              <a:spcBef>
                <a:spcPts val="1200"/>
              </a:spcBef>
              <a:spcAft>
                <a:spcPts val="0"/>
              </a:spcAft>
              <a:buNone/>
            </a:pPr>
            <a:r>
              <a:rPr lang="en"/>
              <a:t>With an extremely low p-value, we reject the null hypothesis and conclude that the true mean of SLG for the 4th and 5th batters is greater than the SLG of the rest of the lineup showing that these are a team’s best power batters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60" name="Google Shape;260;p39"/>
          <p:cNvPicPr preferRelativeResize="0"/>
          <p:nvPr/>
        </p:nvPicPr>
        <p:blipFill>
          <a:blip r:embed="rId3">
            <a:alphaModFix/>
          </a:blip>
          <a:stretch>
            <a:fillRect/>
          </a:stretch>
        </p:blipFill>
        <p:spPr>
          <a:xfrm>
            <a:off x="2157788" y="689425"/>
            <a:ext cx="5076825" cy="1524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T-Test 5</a:t>
            </a:r>
            <a:endParaRPr/>
          </a:p>
        </p:txBody>
      </p:sp>
      <p:sp>
        <p:nvSpPr>
          <p:cNvPr id="266" name="Google Shape;266;p40"/>
          <p:cNvSpPr txBox="1"/>
          <p:nvPr>
            <p:ph idx="1" type="body"/>
          </p:nvPr>
        </p:nvSpPr>
        <p:spPr>
          <a:xfrm>
            <a:off x="729450" y="2078875"/>
            <a:ext cx="7688700" cy="3064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a:t>
            </a:r>
            <a:r>
              <a:rPr lang="en"/>
              <a:t>-test 5: Comparing the SLG of the 4th and 5th batters to the 1st, 2nd, and 3rd batters to investigate the claim that the 4st and 5th batters should be the team’s best power hitters, while accounting for the fact that the 6 through 9 hitters will be worse overall (negative relationship for lineup position with SLG) compared to the first half of the lineup.</a:t>
            </a:r>
            <a:endParaRPr/>
          </a:p>
          <a:p>
            <a:pPr indent="0" lvl="0" marL="0" rtl="0" algn="l">
              <a:spcBef>
                <a:spcPts val="1200"/>
              </a:spcBef>
              <a:spcAft>
                <a:spcPts val="0"/>
              </a:spcAft>
              <a:buNone/>
            </a:pPr>
            <a:r>
              <a:rPr lang="en" u="sng"/>
              <a:t>Null Hypothesis:</a:t>
            </a:r>
            <a:r>
              <a:rPr lang="en"/>
              <a:t> The true mean SLG of the 4th and 5th batters is the same as the OPS of the 1,2, and 3 batters.</a:t>
            </a:r>
            <a:endParaRPr/>
          </a:p>
          <a:p>
            <a:pPr indent="0" lvl="0" marL="0" rtl="0" algn="l">
              <a:spcBef>
                <a:spcPts val="0"/>
              </a:spcBef>
              <a:spcAft>
                <a:spcPts val="0"/>
              </a:spcAft>
              <a:buNone/>
            </a:pPr>
            <a:r>
              <a:rPr lang="en" u="sng"/>
              <a:t>Alternative Hypothesis: </a:t>
            </a:r>
            <a:r>
              <a:rPr lang="en"/>
              <a:t>The true mean of SLG for the 4th and 5th batters is greater than the OPS of the 1st,2nd, and 3rd batters.</a:t>
            </a:r>
            <a:endParaRPr/>
          </a:p>
          <a:p>
            <a:pPr indent="0" lvl="0" marL="0" rtl="0" algn="l">
              <a:spcBef>
                <a:spcPts val="1200"/>
              </a:spcBef>
              <a:spcAft>
                <a:spcPts val="0"/>
              </a:spcAft>
              <a:buNone/>
            </a:pPr>
            <a:r>
              <a:rPr lang="en"/>
              <a:t>With an extremely low p-value, we reject the null hypothesis and conclude that the true mean of SLG for the 4th and 5th batters is greater than the SLG of the 1st,2nd, and 3rd batters showing that these are a team’s best power batters</a:t>
            </a:r>
            <a:endParaRPr/>
          </a:p>
          <a:p>
            <a:pPr indent="0" lvl="0" marL="0" rtl="0" algn="l">
              <a:spcBef>
                <a:spcPts val="1200"/>
              </a:spcBef>
              <a:spcAft>
                <a:spcPts val="1200"/>
              </a:spcAft>
              <a:buNone/>
            </a:pPr>
            <a:r>
              <a:t/>
            </a:r>
            <a:endParaRPr/>
          </a:p>
        </p:txBody>
      </p:sp>
      <p:pic>
        <p:nvPicPr>
          <p:cNvPr id="267" name="Google Shape;267;p40"/>
          <p:cNvPicPr preferRelativeResize="0"/>
          <p:nvPr/>
        </p:nvPicPr>
        <p:blipFill>
          <a:blip r:embed="rId3">
            <a:alphaModFix/>
          </a:blip>
          <a:stretch>
            <a:fillRect/>
          </a:stretch>
        </p:blipFill>
        <p:spPr>
          <a:xfrm>
            <a:off x="2057725" y="592975"/>
            <a:ext cx="5124450" cy="14859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1"/>
          <p:cNvSpPr txBox="1"/>
          <p:nvPr>
            <p:ph type="title"/>
          </p:nvPr>
        </p:nvSpPr>
        <p:spPr>
          <a:xfrm>
            <a:off x="727650" y="12298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273" name="Google Shape;273;p41"/>
          <p:cNvSpPr txBox="1"/>
          <p:nvPr>
            <p:ph idx="1" type="body"/>
          </p:nvPr>
        </p:nvSpPr>
        <p:spPr>
          <a:xfrm>
            <a:off x="727650" y="1686025"/>
            <a:ext cx="7688700" cy="3289800"/>
          </a:xfrm>
          <a:prstGeom prst="rect">
            <a:avLst/>
          </a:prstGeom>
        </p:spPr>
        <p:txBody>
          <a:bodyPr anchorCtr="0" anchor="t" bIns="91425" lIns="91425" spcFirstLastPara="1" rIns="91425" wrap="square" tIns="91425">
            <a:noAutofit/>
          </a:bodyPr>
          <a:lstStyle/>
          <a:p>
            <a:pPr indent="-323850" lvl="0" marL="457200" rtl="0" algn="l">
              <a:lnSpc>
                <a:spcPct val="95000"/>
              </a:lnSpc>
              <a:spcBef>
                <a:spcPts val="0"/>
              </a:spcBef>
              <a:spcAft>
                <a:spcPts val="0"/>
              </a:spcAft>
              <a:buSzPts val="1500"/>
              <a:buChar char="●"/>
            </a:pPr>
            <a:r>
              <a:rPr lang="en" sz="1500"/>
              <a:t>Data was not completely normal but sound enough for ANOVA and regression</a:t>
            </a:r>
            <a:endParaRPr sz="1500"/>
          </a:p>
          <a:p>
            <a:pPr indent="-323850" lvl="0" marL="457200" rtl="0" algn="l">
              <a:lnSpc>
                <a:spcPct val="95000"/>
              </a:lnSpc>
              <a:spcBef>
                <a:spcPts val="1000"/>
              </a:spcBef>
              <a:spcAft>
                <a:spcPts val="0"/>
              </a:spcAft>
              <a:buSzPts val="1500"/>
              <a:buChar char="●"/>
            </a:pPr>
            <a:r>
              <a:rPr lang="en" sz="1500"/>
              <a:t>ANOVA showed that lineup position was not independent from batting statistics</a:t>
            </a:r>
            <a:endParaRPr sz="1500"/>
          </a:p>
          <a:p>
            <a:pPr indent="-323850" lvl="0" marL="457200" rtl="0" algn="l">
              <a:lnSpc>
                <a:spcPct val="95000"/>
              </a:lnSpc>
              <a:spcBef>
                <a:spcPts val="1000"/>
              </a:spcBef>
              <a:spcAft>
                <a:spcPts val="0"/>
              </a:spcAft>
              <a:buSzPts val="1500"/>
              <a:buChar char="●"/>
            </a:pPr>
            <a:r>
              <a:rPr lang="en" sz="1500"/>
              <a:t>Simple Linear Regression for each of the explanatory variables showed a negative relationship but not a strongly linear relationship</a:t>
            </a:r>
            <a:endParaRPr sz="1500"/>
          </a:p>
          <a:p>
            <a:pPr indent="-323850" lvl="0" marL="457200" rtl="0" algn="l">
              <a:lnSpc>
                <a:spcPct val="95000"/>
              </a:lnSpc>
              <a:spcBef>
                <a:spcPts val="1000"/>
              </a:spcBef>
              <a:spcAft>
                <a:spcPts val="0"/>
              </a:spcAft>
              <a:buSzPts val="1500"/>
              <a:buChar char="●"/>
            </a:pPr>
            <a:r>
              <a:rPr lang="en" sz="1500"/>
              <a:t>Simple linear and multiple regression did not create models that were good at predicting lineup position based on the statistics</a:t>
            </a:r>
            <a:endParaRPr sz="1500"/>
          </a:p>
          <a:p>
            <a:pPr indent="-311150" lvl="1" marL="914400" rtl="0" algn="l">
              <a:lnSpc>
                <a:spcPct val="95000"/>
              </a:lnSpc>
              <a:spcBef>
                <a:spcPts val="0"/>
              </a:spcBef>
              <a:spcAft>
                <a:spcPts val="0"/>
              </a:spcAft>
              <a:buSzPts val="1300"/>
              <a:buChar char="○"/>
            </a:pPr>
            <a:r>
              <a:rPr lang="en" sz="1300"/>
              <a:t>Best Subsets and Stepwise regression </a:t>
            </a:r>
            <a:r>
              <a:rPr lang="en" sz="1300"/>
              <a:t>techniques</a:t>
            </a:r>
            <a:r>
              <a:rPr lang="en" sz="1300"/>
              <a:t> did not improve this even when accounting for all interaction effects</a:t>
            </a:r>
            <a:endParaRPr sz="1300"/>
          </a:p>
          <a:p>
            <a:pPr indent="-323850" lvl="0" marL="457200" rtl="0" algn="l">
              <a:lnSpc>
                <a:spcPct val="95000"/>
              </a:lnSpc>
              <a:spcBef>
                <a:spcPts val="1000"/>
              </a:spcBef>
              <a:spcAft>
                <a:spcPts val="0"/>
              </a:spcAft>
              <a:buSzPts val="1500"/>
              <a:buChar char="●"/>
            </a:pPr>
            <a:r>
              <a:rPr lang="en" sz="1500"/>
              <a:t>Used t-tests to investigate each of the claims about conventional wisdom for baseball lineups</a:t>
            </a:r>
            <a:endParaRPr sz="1500"/>
          </a:p>
          <a:p>
            <a:pPr indent="-323850" lvl="0" marL="457200" rtl="0" algn="l">
              <a:lnSpc>
                <a:spcPct val="95000"/>
              </a:lnSpc>
              <a:spcBef>
                <a:spcPts val="1000"/>
              </a:spcBef>
              <a:spcAft>
                <a:spcPts val="1000"/>
              </a:spcAft>
              <a:buSzPts val="1500"/>
              <a:buChar char="●"/>
            </a:pPr>
            <a:r>
              <a:rPr lang="en" sz="1500"/>
              <a:t>All t-tests yielded results that indicated the conventional wisdom was still being used in the MLB</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Conclusions</a:t>
            </a:r>
            <a:endParaRPr/>
          </a:p>
        </p:txBody>
      </p:sp>
      <p:sp>
        <p:nvSpPr>
          <p:cNvPr id="279" name="Google Shape;279;p42"/>
          <p:cNvSpPr txBox="1"/>
          <p:nvPr>
            <p:ph idx="1" type="body"/>
          </p:nvPr>
        </p:nvSpPr>
        <p:spPr>
          <a:xfrm>
            <a:off x="729450" y="1853850"/>
            <a:ext cx="7688700" cy="3289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500"/>
              <a:t>Going back to our </a:t>
            </a:r>
            <a:r>
              <a:rPr lang="en" sz="1500"/>
              <a:t>initial</a:t>
            </a:r>
            <a:r>
              <a:rPr lang="en" sz="1500"/>
              <a:t> question, from our ANOVA, t-tests, and regression analysis, we can conclude that that </a:t>
            </a:r>
            <a:r>
              <a:rPr lang="en" sz="1500"/>
              <a:t>conventional wisdom, with on-base batters 1st and 2nd, the best hitter 3rd, and power hitters 4th and 5th is still used by MLB managers to construct their lineups today.</a:t>
            </a:r>
            <a:endParaRPr sz="1500"/>
          </a:p>
          <a:p>
            <a:pPr indent="0" lvl="0" marL="0" rtl="0" algn="l">
              <a:spcBef>
                <a:spcPts val="1200"/>
              </a:spcBef>
              <a:spcAft>
                <a:spcPts val="0"/>
              </a:spcAft>
              <a:buNone/>
            </a:pPr>
            <a:r>
              <a:rPr lang="en" sz="1500"/>
              <a:t>Our ANOVA revealed that there are differences in batting statistics between the lineup positions, while the simple linear regression, along with the 5 t-tests revealed the direction of the differences. </a:t>
            </a:r>
            <a:endParaRPr sz="1500"/>
          </a:p>
          <a:p>
            <a:pPr indent="0" lvl="0" marL="0" rtl="0" algn="l">
              <a:spcBef>
                <a:spcPts val="1200"/>
              </a:spcBef>
              <a:spcAft>
                <a:spcPts val="1200"/>
              </a:spcAft>
              <a:buNone/>
            </a:pPr>
            <a:r>
              <a:rPr lang="en" sz="1500"/>
              <a:t>Since the OBP of the 1 and 2 batters is greater than the rest, we can conclude they are the on-base batters. Since the OPS of the 3 batter is greater than the rest, we can conclude that they are the best overall batter. Finally, since the SLG of the 4 and 5 batters is greater than the rest, we can conclude that they are the power batters.</a:t>
            </a:r>
            <a:endParaRPr sz="15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a:t>
            </a:r>
            <a:endParaRPr/>
          </a:p>
        </p:txBody>
      </p:sp>
      <p:sp>
        <p:nvSpPr>
          <p:cNvPr id="285" name="Google Shape;285;p4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en"/>
              <a:t>There were a lot of technical limitations in our project</a:t>
            </a:r>
            <a:endParaRPr/>
          </a:p>
          <a:p>
            <a:pPr indent="-298450" lvl="1" marL="914400" rtl="0" algn="l">
              <a:spcBef>
                <a:spcPts val="0"/>
              </a:spcBef>
              <a:spcAft>
                <a:spcPts val="0"/>
              </a:spcAft>
              <a:buSzPts val="1100"/>
              <a:buChar char="○"/>
            </a:pPr>
            <a:r>
              <a:rPr lang="en"/>
              <a:t>Calculating splits for a specified time frame before each game would require a lot of compute power even if only one year were considered</a:t>
            </a:r>
            <a:endParaRPr/>
          </a:p>
          <a:p>
            <a:pPr indent="-298450" lvl="1" marL="914400" rtl="0" algn="l">
              <a:spcBef>
                <a:spcPts val="0"/>
              </a:spcBef>
              <a:spcAft>
                <a:spcPts val="0"/>
              </a:spcAft>
              <a:buSzPts val="1100"/>
              <a:buChar char="○"/>
            </a:pPr>
            <a:r>
              <a:rPr lang="en"/>
              <a:t>Merging the two datasets for the data about hitting splits and game logs caused some amount of loss of data.</a:t>
            </a:r>
            <a:endParaRPr/>
          </a:p>
          <a:p>
            <a:pPr indent="-298450" lvl="1" marL="914400" rtl="0" algn="l">
              <a:spcBef>
                <a:spcPts val="0"/>
              </a:spcBef>
              <a:spcAft>
                <a:spcPts val="0"/>
              </a:spcAft>
              <a:buSzPts val="1100"/>
              <a:buChar char="○"/>
            </a:pPr>
            <a:r>
              <a:rPr lang="en"/>
              <a:t>There are a number of difficulties in calculating a regression model while accounting for a lot of interaction effects especially over such a large dataset</a:t>
            </a:r>
            <a:endParaRPr/>
          </a:p>
          <a:p>
            <a:pPr indent="-298450" lvl="1" marL="914400" rtl="0" algn="l">
              <a:spcBef>
                <a:spcPts val="0"/>
              </a:spcBef>
              <a:spcAft>
                <a:spcPts val="0"/>
              </a:spcAft>
              <a:buSzPts val="1100"/>
              <a:buChar char="○"/>
            </a:pPr>
            <a:r>
              <a:rPr lang="en"/>
              <a:t>We initially wanted to look at composite statistics like WAR and OPS+ but computing these for each of the splits posed technical problems</a:t>
            </a:r>
            <a:endParaRPr/>
          </a:p>
          <a:p>
            <a:pPr indent="-311150" lvl="0" marL="457200" rtl="0" algn="l">
              <a:spcBef>
                <a:spcPts val="0"/>
              </a:spcBef>
              <a:spcAft>
                <a:spcPts val="0"/>
              </a:spcAft>
              <a:buSzPts val="1300"/>
              <a:buChar char="●"/>
            </a:pPr>
            <a:r>
              <a:rPr lang="en"/>
              <a:t>Sampling from the data could be used to get around some of these problems but could cause problems due to the limited normality the dataset and number of outliers</a:t>
            </a:r>
            <a:endParaRPr/>
          </a:p>
          <a:p>
            <a:pPr indent="-311150" lvl="0" marL="457200" rtl="0" algn="l">
              <a:spcBef>
                <a:spcPts val="0"/>
              </a:spcBef>
              <a:spcAft>
                <a:spcPts val="0"/>
              </a:spcAft>
              <a:buSzPts val="1300"/>
              <a:buChar char="●"/>
            </a:pPr>
            <a:r>
              <a:rPr lang="en"/>
              <a:t>Querying data in a better from the databases could also have helped by making the data cleaning process simpler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291" name="Google Shape;291;p44"/>
          <p:cNvSpPr txBox="1"/>
          <p:nvPr>
            <p:ph idx="1" type="body"/>
          </p:nvPr>
        </p:nvSpPr>
        <p:spPr>
          <a:xfrm>
            <a:off x="729450" y="2078875"/>
            <a:ext cx="7688700" cy="30645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en"/>
              <a:t>We could investigate how hitting splits for 1 or 2 weeks before a game impact lineup construction, instead of </a:t>
            </a:r>
            <a:r>
              <a:rPr lang="en"/>
              <a:t>the</a:t>
            </a:r>
            <a:r>
              <a:rPr lang="en"/>
              <a:t> </a:t>
            </a:r>
            <a:r>
              <a:rPr lang="en"/>
              <a:t>whole season before</a:t>
            </a:r>
            <a:endParaRPr/>
          </a:p>
          <a:p>
            <a:pPr indent="-298450" lvl="1" marL="914400" rtl="0" algn="l">
              <a:spcBef>
                <a:spcPts val="0"/>
              </a:spcBef>
              <a:spcAft>
                <a:spcPts val="0"/>
              </a:spcAft>
              <a:buSzPts val="1100"/>
              <a:buChar char="○"/>
            </a:pPr>
            <a:r>
              <a:rPr lang="en"/>
              <a:t>This would give more accurate results accounting for what hitters are hot and cold</a:t>
            </a:r>
            <a:endParaRPr/>
          </a:p>
          <a:p>
            <a:pPr indent="-298450" lvl="1" marL="914400" rtl="0" algn="l">
              <a:spcBef>
                <a:spcPts val="0"/>
              </a:spcBef>
              <a:spcAft>
                <a:spcPts val="0"/>
              </a:spcAft>
              <a:buSzPts val="1100"/>
              <a:buChar char="○"/>
            </a:pPr>
            <a:r>
              <a:rPr lang="en"/>
              <a:t>Might give even more significant results</a:t>
            </a:r>
            <a:endParaRPr/>
          </a:p>
          <a:p>
            <a:pPr indent="-311150" lvl="0" marL="457200" rtl="0" algn="l">
              <a:spcBef>
                <a:spcPts val="0"/>
              </a:spcBef>
              <a:spcAft>
                <a:spcPts val="0"/>
              </a:spcAft>
              <a:buSzPts val="1300"/>
              <a:buChar char="●"/>
            </a:pPr>
            <a:r>
              <a:rPr lang="en"/>
              <a:t>We could investigate the same relationship using composite stats, such as OPS+, WRC+, or ISO, that have complex formulas and where league average is 100</a:t>
            </a:r>
            <a:endParaRPr/>
          </a:p>
          <a:p>
            <a:pPr indent="-298450" lvl="1" marL="914400" rtl="0" algn="l">
              <a:spcBef>
                <a:spcPts val="0"/>
              </a:spcBef>
              <a:spcAft>
                <a:spcPts val="0"/>
              </a:spcAft>
              <a:buSzPts val="1100"/>
              <a:buChar char="○"/>
            </a:pPr>
            <a:r>
              <a:rPr lang="en"/>
              <a:t>This could give us more normal data and more accurate results, because of the accurate formulas</a:t>
            </a:r>
            <a:endParaRPr/>
          </a:p>
          <a:p>
            <a:pPr indent="-311150" lvl="0" marL="457200" rtl="0" algn="l">
              <a:spcBef>
                <a:spcPts val="0"/>
              </a:spcBef>
              <a:spcAft>
                <a:spcPts val="0"/>
              </a:spcAft>
              <a:buSzPts val="1300"/>
              <a:buChar char="●"/>
            </a:pPr>
            <a:r>
              <a:rPr lang="en"/>
              <a:t>We could see how lineup </a:t>
            </a:r>
            <a:r>
              <a:rPr lang="en"/>
              <a:t>construction</a:t>
            </a:r>
            <a:r>
              <a:rPr lang="en"/>
              <a:t> has changed over time using different eras instead of just 2012-2019</a:t>
            </a:r>
            <a:endParaRPr/>
          </a:p>
          <a:p>
            <a:pPr indent="-298450" lvl="1" marL="914400" rtl="0" algn="l">
              <a:spcBef>
                <a:spcPts val="0"/>
              </a:spcBef>
              <a:spcAft>
                <a:spcPts val="0"/>
              </a:spcAft>
              <a:buSzPts val="1100"/>
              <a:buChar char="○"/>
            </a:pPr>
            <a:r>
              <a:rPr lang="en"/>
              <a:t>Use t-tests to compare the statistics of different lineup positions over different eras</a:t>
            </a:r>
            <a:endParaRPr/>
          </a:p>
          <a:p>
            <a:pPr indent="-311150" lvl="0" marL="457200" rtl="0" algn="l">
              <a:spcBef>
                <a:spcPts val="0"/>
              </a:spcBef>
              <a:spcAft>
                <a:spcPts val="0"/>
              </a:spcAft>
              <a:buSzPts val="1300"/>
              <a:buChar char="●"/>
            </a:pPr>
            <a:r>
              <a:rPr lang="en"/>
              <a:t>The use of more complex or advanced regression models could help us reach our final goal of </a:t>
            </a:r>
            <a:r>
              <a:rPr lang="en"/>
              <a:t>truly optimizing a lineup</a:t>
            </a:r>
            <a:endParaRPr/>
          </a:p>
          <a:p>
            <a:pPr indent="-298450" lvl="1" marL="914400" rtl="0" algn="l">
              <a:spcBef>
                <a:spcPts val="0"/>
              </a:spcBef>
              <a:spcAft>
                <a:spcPts val="0"/>
              </a:spcAft>
              <a:buSzPts val="1100"/>
              <a:buChar char="○"/>
            </a:pPr>
            <a:r>
              <a:rPr lang="en"/>
              <a:t>Classification or regression tree models</a:t>
            </a:r>
            <a:endParaRPr/>
          </a:p>
          <a:p>
            <a:pPr indent="-298450" lvl="1" marL="914400" rtl="0" algn="l">
              <a:spcBef>
                <a:spcPts val="0"/>
              </a:spcBef>
              <a:spcAft>
                <a:spcPts val="0"/>
              </a:spcAft>
              <a:buSzPts val="1100"/>
              <a:buChar char="○"/>
            </a:pPr>
            <a:r>
              <a:rPr lang="en"/>
              <a:t>Markov Chains</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297" name="Google Shape;297;p45"/>
          <p:cNvSpPr txBox="1"/>
          <p:nvPr>
            <p:ph idx="1" type="body"/>
          </p:nvPr>
        </p:nvSpPr>
        <p:spPr>
          <a:xfrm>
            <a:off x="729450" y="1853850"/>
            <a:ext cx="7688700" cy="32898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a:t>Data Sources:</a:t>
            </a:r>
            <a:endParaRPr/>
          </a:p>
          <a:p>
            <a:pPr indent="-311150" lvl="0" marL="457200" rtl="0" algn="l">
              <a:spcBef>
                <a:spcPts val="1200"/>
              </a:spcBef>
              <a:spcAft>
                <a:spcPts val="0"/>
              </a:spcAft>
              <a:buSzPts val="1300"/>
              <a:buChar char="●"/>
            </a:pPr>
            <a:r>
              <a:rPr lang="en"/>
              <a:t>Baseball Reference - </a:t>
            </a:r>
            <a:r>
              <a:rPr lang="en" sz="1100" u="sng">
                <a:solidFill>
                  <a:schemeClr val="hlink"/>
                </a:solidFill>
                <a:hlinkClick r:id="rId3"/>
              </a:rPr>
              <a:t>MLB Stats, Scores, History, &amp; Records | Baseball-Reference.com</a:t>
            </a:r>
            <a:endParaRPr/>
          </a:p>
          <a:p>
            <a:pPr indent="-311150" lvl="0" marL="457200" rtl="0" algn="l">
              <a:spcBef>
                <a:spcPts val="0"/>
              </a:spcBef>
              <a:spcAft>
                <a:spcPts val="0"/>
              </a:spcAft>
              <a:buSzPts val="1300"/>
              <a:buChar char="●"/>
            </a:pPr>
            <a:r>
              <a:rPr lang="en"/>
              <a:t>Fangraphs - </a:t>
            </a:r>
            <a:r>
              <a:rPr lang="en" sz="1100" u="sng">
                <a:solidFill>
                  <a:schemeClr val="hlink"/>
                </a:solidFill>
                <a:hlinkClick r:id="rId4"/>
              </a:rPr>
              <a:t>FanGraphs Baseball | Baseball Statistics and Analysis</a:t>
            </a:r>
            <a:endParaRPr/>
          </a:p>
          <a:p>
            <a:pPr indent="-311150" lvl="0" marL="457200" rtl="0" algn="l">
              <a:spcBef>
                <a:spcPts val="0"/>
              </a:spcBef>
              <a:spcAft>
                <a:spcPts val="0"/>
              </a:spcAft>
              <a:buSzPts val="1300"/>
              <a:buChar char="●"/>
            </a:pPr>
            <a:r>
              <a:rPr lang="en"/>
              <a:t>Baseball R - </a:t>
            </a:r>
            <a:r>
              <a:rPr lang="en" sz="1100" u="sng">
                <a:solidFill>
                  <a:schemeClr val="hlink"/>
                </a:solidFill>
                <a:hlinkClick r:id="rId5"/>
              </a:rPr>
              <a:t>Acquiring and Analyzing Baseball Data • baseballr (billpetti.github.io)</a:t>
            </a:r>
            <a:endParaRPr/>
          </a:p>
          <a:p>
            <a:pPr indent="0" lvl="0" marL="457200" rtl="0" algn="l">
              <a:spcBef>
                <a:spcPts val="1200"/>
              </a:spcBef>
              <a:spcAft>
                <a:spcPts val="0"/>
              </a:spcAft>
              <a:buNone/>
            </a:pPr>
            <a:r>
              <a:rPr lang="en"/>
              <a:t>Background Sources:</a:t>
            </a:r>
            <a:endParaRPr/>
          </a:p>
          <a:p>
            <a:pPr indent="-304800" lvl="0" marL="457200" rtl="0" algn="l">
              <a:spcBef>
                <a:spcPts val="1200"/>
              </a:spcBef>
              <a:spcAft>
                <a:spcPts val="0"/>
              </a:spcAft>
              <a:buClr>
                <a:srgbClr val="000000"/>
              </a:buClr>
              <a:buSzPts val="1200"/>
              <a:buChar char="●"/>
            </a:pPr>
            <a:r>
              <a:rPr lang="en" sz="1200" u="sng">
                <a:solidFill>
                  <a:srgbClr val="1155CC"/>
                </a:solidFill>
                <a:hlinkClick r:id="rId6">
                  <a:extLst>
                    <a:ext uri="{A12FA001-AC4F-418D-AE19-62706E023703}">
                      <ahyp:hlinkClr val="tx"/>
                    </a:ext>
                  </a:extLst>
                </a:hlinkClick>
              </a:rPr>
              <a:t>https://bleacherreport.com/articles/1619689-the-anatomy-of-a-perfect-major-league-lineup</a:t>
            </a:r>
            <a:endParaRPr sz="1200">
              <a:solidFill>
                <a:srgbClr val="000000"/>
              </a:solidFill>
            </a:endParaRPr>
          </a:p>
          <a:p>
            <a:pPr indent="-304800" lvl="0" marL="457200" rtl="0" algn="l">
              <a:spcBef>
                <a:spcPts val="0"/>
              </a:spcBef>
              <a:spcAft>
                <a:spcPts val="0"/>
              </a:spcAft>
              <a:buClr>
                <a:srgbClr val="000000"/>
              </a:buClr>
              <a:buSzPts val="1200"/>
              <a:buFont typeface="Arial"/>
              <a:buChar char="●"/>
            </a:pPr>
            <a:r>
              <a:rPr lang="en" sz="1200" u="sng">
                <a:solidFill>
                  <a:srgbClr val="1155CC"/>
                </a:solidFill>
                <a:latin typeface="Arial"/>
                <a:ea typeface="Arial"/>
                <a:cs typeface="Arial"/>
                <a:sym typeface="Arial"/>
                <a:hlinkClick r:id="rId7">
                  <a:extLst>
                    <a:ext uri="{A12FA001-AC4F-418D-AE19-62706E023703}">
                      <ahyp:hlinkClr val="tx"/>
                    </a:ext>
                  </a:extLst>
                </a:hlinkClick>
              </a:rPr>
              <a:t>https://www.beyondtheboxscore.com/2009/3/17/795946/optimizing-your-lineup-by</a:t>
            </a:r>
            <a:r>
              <a:rPr lang="en" sz="1200">
                <a:solidFill>
                  <a:srgbClr val="000000"/>
                </a:solidFill>
                <a:latin typeface="Arial"/>
                <a:ea typeface="Arial"/>
                <a:cs typeface="Arial"/>
                <a:sym typeface="Arial"/>
              </a:rPr>
              <a:t>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u="sng">
                <a:solidFill>
                  <a:srgbClr val="1155CC"/>
                </a:solidFill>
                <a:latin typeface="Arial"/>
                <a:ea typeface="Arial"/>
                <a:cs typeface="Arial"/>
                <a:sym typeface="Arial"/>
                <a:hlinkClick r:id="rId8">
                  <a:extLst>
                    <a:ext uri="{A12FA001-AC4F-418D-AE19-62706E023703}">
                      <ahyp:hlinkClr val="tx"/>
                    </a:ext>
                  </a:extLst>
                </a:hlinkClick>
              </a:rPr>
              <a:t>https://www.drivelinebaseball.com/2020/02/seqnzr-simulation-lineup-optimizaton/</a:t>
            </a:r>
            <a:endParaRPr/>
          </a:p>
          <a:p>
            <a:pPr indent="-304800" lvl="0" marL="457200" rtl="0" algn="l">
              <a:spcBef>
                <a:spcPts val="0"/>
              </a:spcBef>
              <a:spcAft>
                <a:spcPts val="0"/>
              </a:spcAft>
              <a:buClr>
                <a:srgbClr val="000000"/>
              </a:buClr>
              <a:buSzPts val="1200"/>
              <a:buFont typeface="Arial"/>
              <a:buChar char="●"/>
            </a:pPr>
            <a:r>
              <a:rPr lang="en" sz="1200" u="sng">
                <a:solidFill>
                  <a:srgbClr val="1155CC"/>
                </a:solidFill>
                <a:latin typeface="Arial"/>
                <a:ea typeface="Arial"/>
                <a:cs typeface="Arial"/>
                <a:sym typeface="Arial"/>
                <a:hlinkClick r:id="rId9">
                  <a:extLst>
                    <a:ext uri="{A12FA001-AC4F-418D-AE19-62706E023703}">
                      <ahyp:hlinkClr val="tx"/>
                    </a:ext>
                  </a:extLst>
                </a:hlinkClick>
              </a:rPr>
              <a:t>https://www2.isye.gatech.edu/~jsokol/boouu.pdf</a:t>
            </a:r>
            <a:r>
              <a:rPr lang="en" sz="1200">
                <a:solidFill>
                  <a:srgbClr val="000000"/>
                </a:solidFill>
                <a:latin typeface="Arial"/>
                <a:ea typeface="Arial"/>
                <a:cs typeface="Arial"/>
                <a:sym typeface="Arial"/>
              </a:rPr>
              <a:t>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u="sng">
                <a:solidFill>
                  <a:srgbClr val="1155CC"/>
                </a:solidFill>
                <a:latin typeface="Arial"/>
                <a:ea typeface="Arial"/>
                <a:cs typeface="Arial"/>
                <a:sym typeface="Arial"/>
                <a:hlinkClick r:id="rId10">
                  <a:extLst>
                    <a:ext uri="{A12FA001-AC4F-418D-AE19-62706E023703}">
                      <ahyp:hlinkClr val="tx"/>
                    </a:ext>
                  </a:extLst>
                </a:hlinkClick>
              </a:rPr>
              <a:t>https://www.overtimeheroics.net/2022/05/31/the-mathematically-optimal-batting-order</a:t>
            </a:r>
            <a:r>
              <a:rPr lang="en" sz="1200" u="sng">
                <a:solidFill>
                  <a:srgbClr val="1155CC"/>
                </a:solidFill>
                <a:latin typeface="Arial"/>
                <a:ea typeface="Arial"/>
                <a:cs typeface="Arial"/>
                <a:sym typeface="Arial"/>
                <a:hlinkClick r:id="rId11">
                  <a:extLst>
                    <a:ext uri="{A12FA001-AC4F-418D-AE19-62706E023703}">
                      <ahyp:hlinkClr val="tx"/>
                    </a:ext>
                  </a:extLst>
                </a:hlinkClick>
              </a:rPr>
              <a:t>/</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u="sng">
                <a:solidFill>
                  <a:srgbClr val="1155CC"/>
                </a:solidFill>
                <a:latin typeface="Arial"/>
                <a:ea typeface="Arial"/>
                <a:cs typeface="Arial"/>
                <a:sym typeface="Arial"/>
                <a:hlinkClick r:id="rId12">
                  <a:extLst>
                    <a:ext uri="{A12FA001-AC4F-418D-AE19-62706E023703}">
                      <ahyp:hlinkClr val="tx"/>
                    </a:ext>
                  </a:extLst>
                </a:hlinkClick>
              </a:rPr>
              <a:t>https://digitalrepository.unm.edu/cgi/viewcontent.cgi?article=1082&amp;context=educ_hess_etds</a:t>
            </a:r>
            <a:endParaRPr sz="12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