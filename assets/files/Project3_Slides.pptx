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</p:sldIdLst>
  <p:sldSz cy="5143500" cx="9144000"/>
  <p:notesSz cx="6858000" cy="9144000"/>
  <p:embeddedFontLst>
    <p:embeddedFont>
      <p:font typeface="Economica"/>
      <p:regular r:id="rId10"/>
      <p:bold r:id="rId11"/>
      <p:italic r:id="rId12"/>
      <p:boldItalic r:id="rId13"/>
    </p:embeddedFont>
    <p:embeddedFont>
      <p:font typeface="Open Sans"/>
      <p:regular r:id="rId14"/>
      <p:bold r:id="rId15"/>
      <p:italic r:id="rId16"/>
      <p:boldItalic r:id="rId1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font" Target="fonts/Economica-bold.fntdata"/><Relationship Id="rId10" Type="http://schemas.openxmlformats.org/officeDocument/2006/relationships/font" Target="fonts/Economica-regular.fntdata"/><Relationship Id="rId13" Type="http://schemas.openxmlformats.org/officeDocument/2006/relationships/font" Target="fonts/Economica-boldItalic.fntdata"/><Relationship Id="rId12" Type="http://schemas.openxmlformats.org/officeDocument/2006/relationships/font" Target="fonts/Economica-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OpenSans-bold.fntdata"/><Relationship Id="rId14" Type="http://schemas.openxmlformats.org/officeDocument/2006/relationships/font" Target="fonts/OpenSans-regular.fntdata"/><Relationship Id="rId17" Type="http://schemas.openxmlformats.org/officeDocument/2006/relationships/font" Target="fonts/OpenSans-boldItalic.fntdata"/><Relationship Id="rId16" Type="http://schemas.openxmlformats.org/officeDocument/2006/relationships/font" Target="fonts/OpenSans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226824f14be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226824f14be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226824f14be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" name="Google Shape;75;g226824f14be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226824f14be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226824f14be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2744013" y="756700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1" name="Google Shape;11;p2"/>
          <p:cNvSpPr/>
          <p:nvPr/>
        </p:nvSpPr>
        <p:spPr>
          <a:xfrm rot="10800000">
            <a:off x="5318350" y="3266725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2" name="Google Shape;12;p2"/>
          <p:cNvSpPr txBox="1"/>
          <p:nvPr>
            <p:ph type="ctrTitle"/>
          </p:nvPr>
        </p:nvSpPr>
        <p:spPr>
          <a:xfrm>
            <a:off x="3044700" y="1444255"/>
            <a:ext cx="3054600" cy="1537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3044700" y="3116580"/>
            <a:ext cx="3054600" cy="70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 flipH="1">
            <a:off x="7595938" y="460225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7" name="Google Shape;17;p3"/>
          <p:cNvSpPr/>
          <p:nvPr/>
        </p:nvSpPr>
        <p:spPr>
          <a:xfrm flipH="1" rot="10800000">
            <a:off x="466425" y="3558325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8" name="Google Shape;18;p3"/>
          <p:cNvSpPr txBox="1"/>
          <p:nvPr>
            <p:ph type="title"/>
          </p:nvPr>
        </p:nvSpPr>
        <p:spPr>
          <a:xfrm>
            <a:off x="773700" y="1806450"/>
            <a:ext cx="7596600" cy="1530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4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" name="Google Shape;22;p4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5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27" name="Google Shape;27;p5"/>
          <p:cNvSpPr txBox="1"/>
          <p:nvPr>
            <p:ph idx="1" type="body"/>
          </p:nvPr>
        </p:nvSpPr>
        <p:spPr>
          <a:xfrm>
            <a:off x="311700" y="1225225"/>
            <a:ext cx="39999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8" name="Google Shape;28;p5"/>
          <p:cNvSpPr txBox="1"/>
          <p:nvPr>
            <p:ph idx="2" type="body"/>
          </p:nvPr>
        </p:nvSpPr>
        <p:spPr>
          <a:xfrm>
            <a:off x="4832400" y="1225225"/>
            <a:ext cx="39999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9" name="Google Shape;29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6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32" name="Google Shape;32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35" name="Google Shape;35;p7"/>
          <p:cNvSpPr txBox="1"/>
          <p:nvPr>
            <p:ph idx="1" type="body"/>
          </p:nvPr>
        </p:nvSpPr>
        <p:spPr>
          <a:xfrm>
            <a:off x="311700" y="1399400"/>
            <a:ext cx="2808000" cy="278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6" name="Google Shape;36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8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8"/>
          <p:cNvSpPr txBox="1"/>
          <p:nvPr>
            <p:ph type="title"/>
          </p:nvPr>
        </p:nvSpPr>
        <p:spPr>
          <a:xfrm>
            <a:off x="490250" y="450150"/>
            <a:ext cx="5878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40" name="Google Shape;40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9"/>
          <p:cNvSpPr/>
          <p:nvPr/>
        </p:nvSpPr>
        <p:spPr>
          <a:xfrm>
            <a:off x="4572000" y="-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3" name="Google Shape;43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4" name="Google Shape;44;p9"/>
          <p:cNvSpPr txBox="1"/>
          <p:nvPr>
            <p:ph type="title"/>
          </p:nvPr>
        </p:nvSpPr>
        <p:spPr>
          <a:xfrm>
            <a:off x="265500" y="929275"/>
            <a:ext cx="4045200" cy="1786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45" name="Google Shape;45;p9"/>
          <p:cNvSpPr txBox="1"/>
          <p:nvPr>
            <p:ph idx="1" type="subTitle"/>
          </p:nvPr>
        </p:nvSpPr>
        <p:spPr>
          <a:xfrm>
            <a:off x="265500" y="2769001"/>
            <a:ext cx="4045200" cy="157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9pPr>
          </a:lstStyle>
          <a:p/>
        </p:txBody>
      </p:sp>
      <p:sp>
        <p:nvSpPr>
          <p:cNvPr id="46" name="Google Shape;46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7" name="Google Shape;47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0"/>
          <p:cNvSpPr txBox="1"/>
          <p:nvPr>
            <p:ph idx="1" type="body"/>
          </p:nvPr>
        </p:nvSpPr>
        <p:spPr>
          <a:xfrm>
            <a:off x="319500" y="421892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1pPr>
          </a:lstStyle>
          <a:p/>
        </p:txBody>
      </p:sp>
      <p:sp>
        <p:nvSpPr>
          <p:cNvPr id="50" name="Google Shape;50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1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11"/>
          <p:cNvSpPr txBox="1"/>
          <p:nvPr>
            <p:ph hasCustomPrompt="1" type="title"/>
          </p:nvPr>
        </p:nvSpPr>
        <p:spPr>
          <a:xfrm>
            <a:off x="311700" y="957125"/>
            <a:ext cx="8520600" cy="212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4" name="Google Shape;54;p11"/>
          <p:cNvSpPr txBox="1"/>
          <p:nvPr>
            <p:ph idx="1" type="body"/>
          </p:nvPr>
        </p:nvSpPr>
        <p:spPr>
          <a:xfrm>
            <a:off x="311700" y="3162000"/>
            <a:ext cx="8520600" cy="107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5" name="Google Shape;55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luxe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Char char="●"/>
              <a:defRPr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lvl="1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lvl="2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lvl="3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lvl="4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lvl="5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lvl="6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lvl="7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lvl="8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3"/>
          <p:cNvSpPr txBox="1"/>
          <p:nvPr>
            <p:ph type="ctrTitle"/>
          </p:nvPr>
        </p:nvSpPr>
        <p:spPr>
          <a:xfrm>
            <a:off x="2214475" y="1444250"/>
            <a:ext cx="4806000" cy="1537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200"/>
              <a:t>UR SUSS</a:t>
            </a:r>
            <a:endParaRPr sz="8200"/>
          </a:p>
        </p:txBody>
      </p:sp>
      <p:sp>
        <p:nvSpPr>
          <p:cNvPr id="63" name="Google Shape;63;p13"/>
          <p:cNvSpPr txBox="1"/>
          <p:nvPr>
            <p:ph idx="1" type="subTitle"/>
          </p:nvPr>
        </p:nvSpPr>
        <p:spPr>
          <a:xfrm>
            <a:off x="3044700" y="3116580"/>
            <a:ext cx="3054600" cy="70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Carter, Cheryl, Chloe, George, Miles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4"/>
          <p:cNvSpPr txBox="1"/>
          <p:nvPr>
            <p:ph type="title"/>
          </p:nvPr>
        </p:nvSpPr>
        <p:spPr>
          <a:xfrm>
            <a:off x="239400" y="144550"/>
            <a:ext cx="15069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EDA </a:t>
            </a:r>
            <a:endParaRPr/>
          </a:p>
        </p:txBody>
      </p:sp>
      <p:pic>
        <p:nvPicPr>
          <p:cNvPr id="69" name="Google Shape;69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39400" y="858048"/>
            <a:ext cx="3083475" cy="1833557"/>
          </a:xfrm>
          <a:prstGeom prst="rect">
            <a:avLst/>
          </a:prstGeom>
          <a:noFill/>
          <a:ln>
            <a:noFill/>
          </a:ln>
        </p:spPr>
      </p:pic>
      <p:pic>
        <p:nvPicPr>
          <p:cNvPr id="70" name="Google Shape;70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46438" y="2691600"/>
            <a:ext cx="3486150" cy="2362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1" name="Google Shape;71;p14"/>
          <p:cNvPicPr preferRelativeResize="0"/>
          <p:nvPr/>
        </p:nvPicPr>
        <p:blipFill rotWithShape="1">
          <a:blip r:embed="rId5">
            <a:alphaModFix/>
          </a:blip>
          <a:srcRect b="11087" l="2486" r="0" t="0"/>
          <a:stretch/>
        </p:blipFill>
        <p:spPr>
          <a:xfrm>
            <a:off x="3840700" y="671375"/>
            <a:ext cx="4982425" cy="2427200"/>
          </a:xfrm>
          <a:prstGeom prst="rect">
            <a:avLst/>
          </a:prstGeom>
          <a:noFill/>
          <a:ln>
            <a:noFill/>
          </a:ln>
        </p:spPr>
      </p:pic>
      <p:sp>
        <p:nvSpPr>
          <p:cNvPr id="72" name="Google Shape;72;p14"/>
          <p:cNvSpPr txBox="1"/>
          <p:nvPr/>
        </p:nvSpPr>
        <p:spPr>
          <a:xfrm>
            <a:off x="3906400" y="3216800"/>
            <a:ext cx="5237700" cy="153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" sz="1300">
                <a:solidFill>
                  <a:schemeClr val="dk1"/>
                </a:solidFill>
              </a:rPr>
              <a:t>Comparison of efficiency between states and identifying areas for improvement </a:t>
            </a:r>
            <a:endParaRPr sz="1300">
              <a:solidFill>
                <a:schemeClr val="dk1"/>
              </a:solidFill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" sz="1300">
                <a:solidFill>
                  <a:schemeClr val="dk1"/>
                </a:solidFill>
              </a:rPr>
              <a:t>Analyzed response times by category to prioritize cases and allocate resources effectively </a:t>
            </a:r>
            <a:endParaRPr sz="1300">
              <a:solidFill>
                <a:schemeClr val="dk1"/>
              </a:solidFill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" sz="1300">
                <a:solidFill>
                  <a:schemeClr val="dk1"/>
                </a:solidFill>
              </a:rPr>
              <a:t>More efficiency with increased number of questions since there is a slightly downward trend</a:t>
            </a:r>
            <a:endParaRPr sz="13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5"/>
          <p:cNvSpPr txBox="1"/>
          <p:nvPr>
            <p:ph idx="4294967295"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Time Series Analysis - Seasonal Trends &amp; Forecast</a:t>
            </a:r>
            <a:endParaRPr/>
          </a:p>
        </p:txBody>
      </p:sp>
      <p:pic>
        <p:nvPicPr>
          <p:cNvPr id="78" name="Google Shape;78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48400" y="1105600"/>
            <a:ext cx="3963873" cy="3011599"/>
          </a:xfrm>
          <a:prstGeom prst="rect">
            <a:avLst/>
          </a:prstGeom>
          <a:noFill/>
          <a:ln>
            <a:noFill/>
          </a:ln>
        </p:spPr>
      </p:pic>
      <p:pic>
        <p:nvPicPr>
          <p:cNvPr id="79" name="Google Shape;79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433475" y="1105594"/>
            <a:ext cx="4461226" cy="3056106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5"/>
          <p:cNvSpPr txBox="1"/>
          <p:nvPr>
            <p:ph idx="1" type="body"/>
          </p:nvPr>
        </p:nvSpPr>
        <p:spPr>
          <a:xfrm>
            <a:off x="311700" y="4218925"/>
            <a:ext cx="41139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770"/>
              <a:buNone/>
            </a:pPr>
            <a:r>
              <a:rPr lang="en" sz="1380"/>
              <a:t>Monthly Questions align with Legal Advice Search Seasonal Trends</a:t>
            </a:r>
            <a:endParaRPr sz="1380"/>
          </a:p>
        </p:txBody>
      </p:sp>
      <p:sp>
        <p:nvSpPr>
          <p:cNvPr id="81" name="Google Shape;81;p15"/>
          <p:cNvSpPr txBox="1"/>
          <p:nvPr>
            <p:ph idx="1" type="body"/>
          </p:nvPr>
        </p:nvSpPr>
        <p:spPr>
          <a:xfrm>
            <a:off x="4692275" y="4161700"/>
            <a:ext cx="41139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770"/>
              <a:buNone/>
            </a:pPr>
            <a:r>
              <a:rPr lang="en" sz="1380"/>
              <a:t>Statistically Significant Forecasting Model - mostly sound</a:t>
            </a:r>
            <a:endParaRPr sz="138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6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Findings</a:t>
            </a:r>
            <a:endParaRPr/>
          </a:p>
        </p:txBody>
      </p:sp>
      <p:sp>
        <p:nvSpPr>
          <p:cNvPr id="87" name="Google Shape;87;p16"/>
          <p:cNvSpPr txBox="1"/>
          <p:nvPr>
            <p:ph idx="1" type="body"/>
          </p:nvPr>
        </p:nvSpPr>
        <p:spPr>
          <a:xfrm>
            <a:off x="311700" y="1225225"/>
            <a:ext cx="88323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latin typeface="Arial"/>
                <a:ea typeface="Arial"/>
                <a:cs typeface="Arial"/>
                <a:sym typeface="Arial"/>
              </a:rPr>
              <a:t>Exploratory Data Analysis </a:t>
            </a:r>
            <a:endParaRPr b="1" sz="1200">
              <a:latin typeface="Arial"/>
              <a:ea typeface="Arial"/>
              <a:cs typeface="Arial"/>
              <a:sym typeface="Arial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Font typeface="Arial"/>
              <a:buChar char="●"/>
            </a:pPr>
            <a:r>
              <a:rPr lang="en" sz="1200">
                <a:latin typeface="Arial"/>
                <a:ea typeface="Arial"/>
                <a:cs typeface="Arial"/>
                <a:sym typeface="Arial"/>
              </a:rPr>
              <a:t>identifies areas for improvement in ensuring timely and effective legal assistance for clients.</a:t>
            </a:r>
            <a:endParaRPr sz="1200">
              <a:latin typeface="Arial"/>
              <a:ea typeface="Arial"/>
              <a:cs typeface="Arial"/>
              <a:sym typeface="Arial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Font typeface="Arial"/>
              <a:buChar char="●"/>
            </a:pPr>
            <a:r>
              <a:rPr lang="en" sz="1200">
                <a:latin typeface="Arial"/>
                <a:ea typeface="Arial"/>
                <a:cs typeface="Arial"/>
                <a:sym typeface="Arial"/>
              </a:rPr>
              <a:t>Measuring the efficiency of free lawyer consulting services across different states and identifying areas for improvements is important to reduce response times and increase case resolution speed.</a:t>
            </a:r>
            <a:endParaRPr sz="1200">
              <a:latin typeface="Arial"/>
              <a:ea typeface="Arial"/>
              <a:cs typeface="Arial"/>
              <a:sym typeface="Arial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Font typeface="Arial"/>
              <a:buChar char="●"/>
            </a:pPr>
            <a:r>
              <a:rPr lang="en" sz="1200">
                <a:latin typeface="Arial"/>
                <a:ea typeface="Arial"/>
                <a:cs typeface="Arial"/>
                <a:sym typeface="Arial"/>
              </a:rPr>
              <a:t>Average initial response time and time taken to close a case are important metrics to compare the efficiency of free lawyer consulting services in each state.</a:t>
            </a:r>
            <a:endParaRPr sz="1200">
              <a:latin typeface="Arial"/>
              <a:ea typeface="Arial"/>
              <a:cs typeface="Arial"/>
              <a:sym typeface="Arial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Font typeface="Arial"/>
              <a:buChar char="●"/>
            </a:pPr>
            <a:r>
              <a:rPr lang="en" sz="1200">
                <a:latin typeface="Arial"/>
                <a:ea typeface="Arial"/>
                <a:cs typeface="Arial"/>
                <a:sym typeface="Arial"/>
              </a:rPr>
              <a:t>Analyzing response times by category helps identify areas where more resources may be needed or certain cases need prioritizing.</a:t>
            </a:r>
            <a:endParaRPr sz="12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latin typeface="Arial"/>
                <a:ea typeface="Arial"/>
                <a:cs typeface="Arial"/>
                <a:sym typeface="Arial"/>
              </a:rPr>
              <a:t>Time Series Analysis</a:t>
            </a:r>
            <a:endParaRPr b="1" sz="1200">
              <a:latin typeface="Arial"/>
              <a:ea typeface="Arial"/>
              <a:cs typeface="Arial"/>
              <a:sym typeface="Arial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Font typeface="Arial"/>
              <a:buChar char="●"/>
            </a:pPr>
            <a:r>
              <a:rPr lang="en" sz="1200">
                <a:latin typeface="Arial"/>
                <a:ea typeface="Arial"/>
                <a:cs typeface="Arial"/>
                <a:sym typeface="Arial"/>
              </a:rPr>
              <a:t>Analyzing data as a time series is important to predict the growth of the platform and plan for logistical and staffing needs.</a:t>
            </a:r>
            <a:endParaRPr sz="1200">
              <a:latin typeface="Arial"/>
              <a:ea typeface="Arial"/>
              <a:cs typeface="Arial"/>
              <a:sym typeface="Arial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Font typeface="Arial"/>
              <a:buChar char="●"/>
            </a:pPr>
            <a:r>
              <a:rPr lang="en" sz="1200">
                <a:latin typeface="Arial"/>
                <a:ea typeface="Arial"/>
                <a:cs typeface="Arial"/>
                <a:sym typeface="Arial"/>
              </a:rPr>
              <a:t>Time series analysis demonstrates the importance of analyzing trends in the volume of questions asked over time.</a:t>
            </a:r>
            <a:endParaRPr sz="1200">
              <a:latin typeface="Arial"/>
              <a:ea typeface="Arial"/>
              <a:cs typeface="Arial"/>
              <a:sym typeface="Arial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Font typeface="Arial"/>
              <a:buChar char="●"/>
            </a:pPr>
            <a:r>
              <a:rPr lang="en" sz="1200">
                <a:latin typeface="Arial"/>
                <a:ea typeface="Arial"/>
                <a:cs typeface="Arial"/>
                <a:sym typeface="Arial"/>
              </a:rPr>
              <a:t>Data-driven approach is important to better understand and address the legal needs of underserved communities.</a:t>
            </a:r>
            <a:endParaRPr sz="12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Luxe">
  <a:themeElements>
    <a:clrScheme name="Luxe">
      <a:dk1>
        <a:srgbClr val="000000"/>
      </a:dk1>
      <a:lt1>
        <a:srgbClr val="FFFFFF"/>
      </a:lt1>
      <a:dk2>
        <a:srgbClr val="B7B7B7"/>
      </a:dk2>
      <a:lt2>
        <a:srgbClr val="CCA677"/>
      </a:lt2>
      <a:accent1>
        <a:srgbClr val="5D4037"/>
      </a:accent1>
      <a:accent2>
        <a:srgbClr val="455A64"/>
      </a:accent2>
      <a:accent3>
        <a:srgbClr val="57BB8A"/>
      </a:accent3>
      <a:accent4>
        <a:srgbClr val="78909C"/>
      </a:accent4>
      <a:accent5>
        <a:srgbClr val="607D8B"/>
      </a:accent5>
      <a:accent6>
        <a:srgbClr val="DCE755"/>
      </a:accent6>
      <a:hlink>
        <a:srgbClr val="607D8B"/>
      </a:hlink>
      <a:folHlink>
        <a:srgbClr val="607D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