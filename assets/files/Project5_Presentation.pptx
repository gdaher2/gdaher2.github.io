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regular.fntdata"/><Relationship Id="rId21" Type="http://schemas.openxmlformats.org/officeDocument/2006/relationships/slide" Target="slides/slide16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b6baec0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cb6baec0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cb6baec07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cb6baec07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b6baec07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cb6baec07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cbef7bcae2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cbef7bcae2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Engagement - May be predictor of performance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Context Missing on role of Textbook in Course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Idle time measurement flawed - closing page vs idling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Low Engagement could mean understood or apathy</a:t>
            </a:r>
            <a:endParaRPr sz="14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EOC - Flawed by construction, trends indicate confounding effects present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Unlimited attempts, so need to account for number of attempts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Questions differ from chapter to chapter, EOC negative relationship with chapter #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# of attempts mostly consistent across chapters - EOC more of difficulty metric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Want consistent scale across chapters to be able to compare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Pulse Metrics left be looked at - cost and expectancy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Expectancy - Self-Confidence in Information Learned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Cost - “I did not have enough time to be able to understand the material well”</a:t>
            </a:r>
            <a:endParaRPr sz="14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t/>
            </a:r>
            <a:endParaRPr sz="14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Cost vs Expectancy - Preferred Expectancy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Ambiguity in question of cost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Dependency Structure with all Pulse metrics - related</a:t>
            </a:r>
            <a:endParaRPr sz="14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Expectancy is self-reported confidence in material learned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Analysis was to look at trends, missingness, imputation and modeling for expectancy</a:t>
            </a:r>
            <a:endParaRPr sz="14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cbef7bcae2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cbef7bcae2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cb6baec07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cb6baec07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Engagement - May be predictor of performance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Context Missing on role of Textbook in Course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Idle time measurement flawed - closing page vs idling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Low Engagement could mean understood or apathy</a:t>
            </a:r>
            <a:endParaRPr sz="14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EOC - Flawed by construction, trends indicate confounding effects present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Unlimited attempts, so need to account for number of attempts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Questions differ from chapter to chapter, EOC negative relationship with chapter #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# of attempts mostly consistent across chapters - EOC more of difficulty metric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Want consistent scale across chapters to be able to compare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Pulse Metrics left be looked at - cost and expectancy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Expectancy - Self-Confidence in Information Learned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Cost - “I did not have enough time to be able to understand the material well”</a:t>
            </a:r>
            <a:endParaRPr sz="14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t/>
            </a:r>
            <a:endParaRPr sz="14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Cost vs Expectancy - Preferred Expectancy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Ambiguity in question of cost</a:t>
            </a:r>
            <a:endParaRPr sz="14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Dependency Structure with all Pulse metrics - related</a:t>
            </a:r>
            <a:endParaRPr sz="14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Expectancy is self-reported confidence in material learned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400">
                <a:solidFill>
                  <a:srgbClr val="595959"/>
                </a:solidFill>
              </a:rPr>
              <a:t>Analysis was to look at trends, missingness, imputation and modeling for expectancy</a:t>
            </a:r>
            <a:endParaRPr sz="14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cbef7bcae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cbef7bcae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cbef7bcae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cbef7bcae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c602ed92db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c602ed92db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602ed92db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c602ed92db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cbef7bcae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cbef7bca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cbef7bcae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cbef7bcae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cbef7bcae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cbef7bcae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cbef7bcae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cbef7bcae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cbef7bcae2_1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cbef7bcae2_1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www.jstor.org/stable/27536965" TargetMode="External"/><Relationship Id="rId4" Type="http://schemas.openxmlformats.org/officeDocument/2006/relationships/hyperlink" Target="http://www.jstor.org/stable/27535912" TargetMode="External"/><Relationship Id="rId5" Type="http://schemas.openxmlformats.org/officeDocument/2006/relationships/hyperlink" Target="https://stefvanbuuren.name/publications/2015%20Partitioned%20PMM%20-%20PTAM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311708" y="78152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Mixed Models and Imputation: Tackling the DataFest Dataset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George Daher, Daniel Illera and Isabella Wang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for DataFest was from CourseKata - an online textbook service</a:t>
            </a:r>
            <a:endParaRPr sz="1800"/>
          </a:p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collected included page views, media views, pre-chapter self-assessments and post-chapter review questions</a:t>
            </a:r>
            <a:endParaRPr sz="1800"/>
          </a:p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ranged across chapters from a number of textbooks for students at various institutions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490250" y="450150"/>
            <a:ext cx="66213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“Our longer-term agenda is to make research on teaching and learning more relevant and more effective for </a:t>
            </a:r>
            <a:r>
              <a:rPr b="1" lang="en" sz="1800">
                <a:solidFill>
                  <a:schemeClr val="dk2"/>
                </a:solidFill>
              </a:rPr>
              <a:t>improving important learning outcomes for all students.</a:t>
            </a:r>
            <a:r>
              <a:rPr lang="en" sz="1800">
                <a:solidFill>
                  <a:schemeClr val="dk2"/>
                </a:solidFill>
              </a:rPr>
              <a:t>”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r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3725" y="3568875"/>
            <a:ext cx="3730774" cy="77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634525"/>
            <a:ext cx="75057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3929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16"/>
              <a:buChar char="●"/>
            </a:pPr>
            <a:r>
              <a:rPr lang="en" sz="1816"/>
              <a:t>Evaluate CourseKata success at “improving learning outcomes”</a:t>
            </a:r>
            <a:endParaRPr sz="1816"/>
          </a:p>
          <a:p>
            <a:pPr indent="-343929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816"/>
              <a:buChar char="●"/>
            </a:pPr>
            <a:r>
              <a:rPr lang="en" sz="1816"/>
              <a:t>Need metric of success to evaluate</a:t>
            </a:r>
            <a:endParaRPr sz="1816"/>
          </a:p>
          <a:p>
            <a:pPr indent="-343929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816"/>
              <a:buChar char="●"/>
            </a:pPr>
            <a:r>
              <a:rPr lang="en" sz="1816"/>
              <a:t>Potential Metrics within the Data:</a:t>
            </a:r>
            <a:endParaRPr sz="1816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Engagement Time with Textbook Chapter</a:t>
            </a:r>
            <a:endParaRPr sz="16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End of Chapter Assessment (EOC) proportion of questions correct</a:t>
            </a:r>
            <a:endParaRPr sz="16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Self-Reported “Pulse Metrics” - Expectancy (Self-Confidence in Material) and others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a Metric of Success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311700" y="1724500"/>
            <a:ext cx="8520600" cy="31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 context given for use of textbook within classes or institutions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Engagement: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Low Engagement could mean understanding or apathy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Time varied by pacing of course - better predictor than response</a:t>
            </a:r>
            <a:endParaRPr sz="16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EOC: 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Negative Relationship with Chapter Number - Possible indicator of difficulty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Prior studies show assessments are good predictors of success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3636" y="514750"/>
            <a:ext cx="5716725" cy="4113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a Metric of Success</a:t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311700" y="1604525"/>
            <a:ext cx="8520600" cy="3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 context given for use of textbook within classes or institutions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Engagement:</a:t>
            </a:r>
            <a:endParaRPr sz="18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Low Engagement could mean understanding or apathy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Time varied by pacing of course - better predictor than response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EOC: </a:t>
            </a:r>
            <a:endParaRPr sz="18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Negative Relationship with Chapter Number - Possible indicator of difficulty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Prior studies show assessments are good predictors of success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</a:t>
            </a:r>
            <a:r>
              <a:rPr lang="en" sz="1600"/>
              <a:t>ith unlimited attempts this is different, strength as predictor not sure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Decide to use as predictors rather than success metrics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Selected Metric: Expectancy</a:t>
            </a:r>
            <a:endParaRPr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819150" y="1800200"/>
            <a:ext cx="7505700" cy="26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Expectancy (Self-Confidence in Material) - reported by students at start of each next chapter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Outside sources show self-prediction is a good predictor for academic success</a:t>
            </a:r>
            <a:endParaRPr sz="18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”significantly related to their semester-wide GPA” (Gadzella et al, 1976)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”better predictor than standardized test or high school GPA” (Keefer, 1969)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Focused our analysis using Expectancy as a Response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r>
              <a:rPr lang="en"/>
              <a:t> of Variation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819150" y="16503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Institution Level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Classroom Level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Heterogeneity</a:t>
            </a:r>
            <a:r>
              <a:rPr lang="en" sz="2400"/>
              <a:t> from students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875" y="445025"/>
            <a:ext cx="6045700" cy="419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950" y="442913"/>
            <a:ext cx="6134100" cy="4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75" y="933188"/>
            <a:ext cx="8197425" cy="327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819150" y="6338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Missingness</a:t>
            </a:r>
            <a:endParaRPr/>
          </a:p>
        </p:txBody>
      </p:sp>
      <p:sp>
        <p:nvSpPr>
          <p:cNvPr id="204" name="Google Shape;204;p25"/>
          <p:cNvSpPr txBox="1"/>
          <p:nvPr/>
        </p:nvSpPr>
        <p:spPr>
          <a:xfrm>
            <a:off x="592525" y="1363500"/>
            <a:ext cx="7505700" cy="17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Missingness could be associated with multilevel structure indicating MAR. 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Even if the missingness is in fact MCAR, the correlation we observe would make it easy to impute. 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" name="Google Shape;205;p25"/>
          <p:cNvGrpSpPr/>
          <p:nvPr/>
        </p:nvGrpSpPr>
        <p:grpSpPr>
          <a:xfrm>
            <a:off x="1382838" y="3323950"/>
            <a:ext cx="5925101" cy="1477198"/>
            <a:chOff x="819150" y="3443900"/>
            <a:chExt cx="5925101" cy="1477198"/>
          </a:xfrm>
        </p:grpSpPr>
        <p:pic>
          <p:nvPicPr>
            <p:cNvPr id="206" name="Google Shape;20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9150" y="3824273"/>
              <a:ext cx="5925101" cy="1096825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07" name="Google Shape;207;p25"/>
            <p:cNvSpPr txBox="1"/>
            <p:nvPr/>
          </p:nvSpPr>
          <p:spPr>
            <a:xfrm>
              <a:off x="819150" y="3443900"/>
              <a:ext cx="5925000" cy="9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Table : Imputed Correlations of the Entire Dataset</a:t>
              </a:r>
              <a:endPara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8" name="Google Shape;20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5163" y="2223775"/>
            <a:ext cx="6440426" cy="122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630325" y="5430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214" name="Google Shape;214;p26"/>
          <p:cNvSpPr txBox="1"/>
          <p:nvPr/>
        </p:nvSpPr>
        <p:spPr>
          <a:xfrm>
            <a:off x="630325" y="1563225"/>
            <a:ext cx="3075900" cy="26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705975" y="1701900"/>
            <a:ext cx="5597400" cy="18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371875" y="1172400"/>
            <a:ext cx="7557600" cy="20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Cumulative</a:t>
            </a: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Logit Mixed Model: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Response: Expectancy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Covariates: Utility Value, Cost, EOC, and Minutes </a:t>
            </a: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Engaged.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Chapter Number used as “time”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Coefficients show multiplicative increase of Odds with a one unit increase. 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Models clustering dependency structure. 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Multiple Imputation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Predictive Mean Matching: 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■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Works for multinomial data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■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Preserves Multilevel Structure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6"/>
          <p:cNvSpPr txBox="1"/>
          <p:nvPr/>
        </p:nvSpPr>
        <p:spPr>
          <a:xfrm>
            <a:off x="592500" y="4198000"/>
            <a:ext cx="77910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Done by Institution</a:t>
            </a:r>
            <a:endParaRPr b="1" sz="30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579625" y="8329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>
            <a:off x="705700" y="1461250"/>
            <a:ext cx="7505700" cy="14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Total Minutes Engaged per Chapter was not significant for any of the Institutions.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Effect of an increase in Chapter Number is tiny.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An increase in Cost decreases Odds of understanding the material better. Although not </a:t>
            </a:r>
            <a:r>
              <a:rPr lang="en" sz="1500"/>
              <a:t>always</a:t>
            </a:r>
            <a:r>
              <a:rPr lang="en" sz="1500"/>
              <a:t> </a:t>
            </a:r>
            <a:r>
              <a:rPr lang="en" sz="1500"/>
              <a:t>significant.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EOC was significant for some but not all institutions.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Utility Value was significant for all of them. </a:t>
            </a:r>
            <a:endParaRPr sz="1500"/>
          </a:p>
        </p:txBody>
      </p:sp>
      <p:pic>
        <p:nvPicPr>
          <p:cNvPr id="224" name="Google Shape;2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499" y="2773424"/>
            <a:ext cx="3314225" cy="211065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7"/>
          <p:cNvSpPr txBox="1"/>
          <p:nvPr>
            <p:ph type="title"/>
          </p:nvPr>
        </p:nvSpPr>
        <p:spPr>
          <a:xfrm>
            <a:off x="579625" y="30555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Future Work</a:t>
            </a:r>
            <a:endParaRPr sz="2500"/>
          </a:p>
        </p:txBody>
      </p:sp>
      <p:sp>
        <p:nvSpPr>
          <p:cNvPr id="226" name="Google Shape;226;p27"/>
          <p:cNvSpPr txBox="1"/>
          <p:nvPr/>
        </p:nvSpPr>
        <p:spPr>
          <a:xfrm>
            <a:off x="701725" y="3592900"/>
            <a:ext cx="726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n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Better Handling of Censored Data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n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Factor Analysis of the four survey variables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Gadzella, B. M., Cochran, S. W., Parham, L., &amp; Fournet, G. P. (1976). Accuracy and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Differences among Students in Their Predictions of Semester Achievement. </a:t>
            </a: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endParaRPr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Journal of Educational Research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(2), 75–81. </a:t>
            </a:r>
            <a:r>
              <a:rPr lang="en" sz="12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http://www.jstor.org/stable/27536965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Keefer, K. E. (1969). Self-Prediction of Academic Achievement by College Students.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Journal of Educational Research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(2), 53–56.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http://www.jstor.org/stable/27535912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Vink, G., Lazendic, G., &amp; van Buuren, S. (n.d.). Partitioned predictive mean matching as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multilevel imputation technique. Stefvanbuuren.Name. Retrieved March 24,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2024, from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https://stefvanbuuren.name/publications/2015%20Partitioned%20PMM%20-%20PTAM.pdf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